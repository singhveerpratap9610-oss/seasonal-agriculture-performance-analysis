
<file path=[Content_Types].xml><?xml version="1.0" encoding="utf-8"?>
<Types xmlns="http://schemas.openxmlformats.org/package/2006/content-types">
  <Default Extension="jfif"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9"/>
  </p:notesMasterIdLst>
  <p:handoutMasterIdLst>
    <p:handoutMasterId r:id="rId30"/>
  </p:handoutMasterIdLst>
  <p:sldIdLst>
    <p:sldId id="338" r:id="rId5"/>
    <p:sldId id="327" r:id="rId6"/>
    <p:sldId id="315" r:id="rId7"/>
    <p:sldId id="347" r:id="rId8"/>
    <p:sldId id="329" r:id="rId9"/>
    <p:sldId id="302" r:id="rId10"/>
    <p:sldId id="339" r:id="rId11"/>
    <p:sldId id="348" r:id="rId12"/>
    <p:sldId id="354" r:id="rId13"/>
    <p:sldId id="353" r:id="rId14"/>
    <p:sldId id="352" r:id="rId15"/>
    <p:sldId id="349" r:id="rId16"/>
    <p:sldId id="351" r:id="rId17"/>
    <p:sldId id="350" r:id="rId18"/>
    <p:sldId id="340" r:id="rId19"/>
    <p:sldId id="344" r:id="rId20"/>
    <p:sldId id="345" r:id="rId21"/>
    <p:sldId id="346" r:id="rId22"/>
    <p:sldId id="355" r:id="rId23"/>
    <p:sldId id="356" r:id="rId24"/>
    <p:sldId id="341" r:id="rId25"/>
    <p:sldId id="342" r:id="rId26"/>
    <p:sldId id="343" r:id="rId27"/>
    <p:sldId id="304"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microsoft.com/office/2015/10/relationships/revisionInfo" Target="revisionInfo.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6</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3" Type="http://schemas.openxmlformats.org/officeDocument/2006/relationships/hyperlink" Target="https://github.com/singhveerpratap9610-oss/Seasonal-Agriculture-Performance-Analysis"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587414" y="2613280"/>
            <a:ext cx="10407573" cy="743448"/>
          </a:xfrm>
        </p:spPr>
        <p:txBody>
          <a:bodyPr>
            <a:normAutofit fontScale="90000"/>
          </a:bodyPr>
          <a:lstStyle/>
          <a:p>
            <a:r>
              <a:rPr lang="en-GB" sz="3200" dirty="0"/>
              <a:t>Project Title - </a:t>
            </a:r>
            <a:r>
              <a:rPr lang="en-IN" sz="3200" dirty="0"/>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75957" y="4566763"/>
            <a:ext cx="9175933" cy="369332"/>
          </a:xfrm>
          <a:prstGeom prst="rect">
            <a:avLst/>
          </a:prstGeom>
          <a:noFill/>
        </p:spPr>
        <p:txBody>
          <a:bodyPr wrap="square" rtlCol="0">
            <a:spAutoFit/>
          </a:bodyPr>
          <a:lstStyle/>
          <a:p>
            <a:r>
              <a:rPr lang="en-US" b="1" dirty="0"/>
              <a:t>AICTE STU ID : STU6a5e6ff2989001784573938</a:t>
            </a:r>
          </a:p>
        </p:txBody>
      </p:sp>
      <p:sp>
        <p:nvSpPr>
          <p:cNvPr id="5" name="TextBox 4">
            <a:extLst>
              <a:ext uri="{FF2B5EF4-FFF2-40B4-BE49-F238E27FC236}">
                <a16:creationId xmlns:a16="http://schemas.microsoft.com/office/drawing/2014/main" id="{8AFD798F-91BC-7F8C-60FE-AFEA0655D34B}"/>
              </a:ext>
            </a:extLst>
          </p:cNvPr>
          <p:cNvSpPr txBox="1"/>
          <p:nvPr/>
        </p:nvSpPr>
        <p:spPr>
          <a:xfrm>
            <a:off x="675957" y="3356728"/>
            <a:ext cx="11005970" cy="923330"/>
          </a:xfrm>
          <a:prstGeom prst="rect">
            <a:avLst/>
          </a:prstGeom>
          <a:noFill/>
        </p:spPr>
        <p:txBody>
          <a:bodyPr wrap="square" rtlCol="0">
            <a:spAutoFit/>
          </a:bodyPr>
          <a:lstStyle/>
          <a:p>
            <a:r>
              <a:rPr lang="en-US" b="1" dirty="0">
                <a:ea typeface="Calibri" panose="020F0502020204030204" pitchFamily="34" charset="0"/>
                <a:cs typeface="Arial" panose="020B0604020202020204" pitchFamily="34" charset="0"/>
              </a:rPr>
              <a:t>Name – VEER PRATAP SINGH</a:t>
            </a:r>
            <a:br>
              <a:rPr lang="en-US" b="1" dirty="0">
                <a:ea typeface="Calibri" panose="020F0502020204030204" pitchFamily="34" charset="0"/>
                <a:cs typeface="Arial" panose="020B0604020202020204" pitchFamily="34" charset="0"/>
              </a:rPr>
            </a:br>
            <a:br>
              <a:rPr lang="en-US" b="1" dirty="0">
                <a:ea typeface="Calibri" panose="020F0502020204030204" pitchFamily="34" charset="0"/>
                <a:cs typeface="Arial" panose="020B0604020202020204" pitchFamily="34" charset="0"/>
              </a:rPr>
            </a:br>
            <a:r>
              <a:rPr lang="en-US" b="1" dirty="0">
                <a:ea typeface="Calibri" panose="020F0502020204030204" pitchFamily="34" charset="0"/>
                <a:cs typeface="Arial" panose="020B0604020202020204" pitchFamily="34" charset="0"/>
              </a:rPr>
              <a:t>College Name – </a:t>
            </a:r>
            <a:r>
              <a:rPr lang="en-IN" b="1" dirty="0">
                <a:ea typeface="Calibri" panose="020F0502020204030204" pitchFamily="34" charset="0"/>
                <a:cs typeface="Arial" panose="020B0604020202020204" pitchFamily="34" charset="0"/>
              </a:rPr>
              <a:t>S.R.M INSTITUTE OF SCIENCE AND TECHNOLOGY</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724255" y="2016892"/>
            <a:ext cx="7025951" cy="3607987"/>
          </a:xfrm>
        </p:spPr>
        <p:txBody>
          <a:bodyPr vert="horz" lIns="91440" tIns="45720" rIns="91440" bIns="45720" rtlCol="0" anchor="t">
            <a:normAutofit fontScale="77500" lnSpcReduction="20000"/>
          </a:bodyPr>
          <a:lstStyle/>
          <a:p>
            <a:pPr marL="0" indent="0">
              <a:lnSpc>
                <a:spcPct val="100000"/>
              </a:lnSpc>
              <a:buNone/>
            </a:pPr>
            <a:r>
              <a:rPr lang="en-US" sz="2800" dirty="0">
                <a:solidFill>
                  <a:schemeClr val="tx1"/>
                </a:solidFill>
                <a:latin typeface="Cambria" panose="02040503050406030204" pitchFamily="18" charset="0"/>
                <a:ea typeface="Cambria" panose="02040503050406030204" pitchFamily="18" charset="0"/>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solidFill>
                <a:schemeClr val="tx1"/>
              </a:solidFill>
              <a:latin typeface="Cambria" panose="02040503050406030204" pitchFamily="18" charset="0"/>
              <a:ea typeface="Cambria" panose="02040503050406030204" pitchFamily="18" charset="0"/>
            </a:endParaRP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127801" y="0"/>
            <a:ext cx="5968199" cy="679550"/>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FD239B7A-200D-8B35-F796-D9D7065F4F1C}"/>
              </a:ext>
            </a:extLst>
          </p:cNvPr>
          <p:cNvSpPr txBox="1"/>
          <p:nvPr/>
        </p:nvSpPr>
        <p:spPr>
          <a:xfrm>
            <a:off x="87565" y="809948"/>
            <a:ext cx="3319908" cy="400110"/>
          </a:xfrm>
          <a:prstGeom prst="rect">
            <a:avLst/>
          </a:prstGeom>
          <a:noFill/>
        </p:spPr>
        <p:txBody>
          <a:bodyPr wrap="square" rtlCol="0">
            <a:spAutoFit/>
          </a:bodyPr>
          <a:lstStyle/>
          <a:p>
            <a:pPr marL="285750" indent="-285750">
              <a:buFont typeface="Wingdings" panose="05000000000000000000" pitchFamily="2" charset="2"/>
              <a:buChar char="v"/>
            </a:pPr>
            <a:r>
              <a:rPr lang="en-IN" sz="2000" b="1" u="sng" dirty="0"/>
              <a:t>Project Overview:  </a:t>
            </a:r>
          </a:p>
        </p:txBody>
      </p:sp>
      <p:sp>
        <p:nvSpPr>
          <p:cNvPr id="4" name="TextBox 3">
            <a:extLst>
              <a:ext uri="{FF2B5EF4-FFF2-40B4-BE49-F238E27FC236}">
                <a16:creationId xmlns:a16="http://schemas.microsoft.com/office/drawing/2014/main" id="{8C95E888-3E7D-3236-11E3-4CE428E2CB33}"/>
              </a:ext>
            </a:extLst>
          </p:cNvPr>
          <p:cNvSpPr txBox="1"/>
          <p:nvPr/>
        </p:nvSpPr>
        <p:spPr>
          <a:xfrm>
            <a:off x="351736" y="1340456"/>
            <a:ext cx="9155262" cy="1323439"/>
          </a:xfrm>
          <a:prstGeom prst="rect">
            <a:avLst/>
          </a:prstGeom>
          <a:noFill/>
        </p:spPr>
        <p:txBody>
          <a:bodyPr wrap="square" rtlCol="0">
            <a:spAutoFit/>
          </a:bodyPr>
          <a:lstStyle/>
          <a:p>
            <a:pPr marL="285750" lvl="0" indent="-285750">
              <a:buFont typeface="Wingdings" panose="05000000000000000000" pitchFamily="2" charset="2"/>
              <a:buChar char="Ø"/>
            </a:pPr>
            <a:r>
              <a:rPr lang="en-IN" sz="1600" dirty="0" err="1"/>
              <a:t>Analyzes</a:t>
            </a:r>
            <a:r>
              <a:rPr lang="en-IN" sz="1600" dirty="0"/>
              <a:t> 4,000 agricultural records to investigate how seasonal changes (Kharif, Rabi, and Zaid) impact overall farming performance. </a:t>
            </a:r>
            <a:br>
              <a:rPr lang="en-IN" sz="1600" dirty="0"/>
            </a:br>
            <a:endParaRPr lang="en-IN" sz="1600" dirty="0"/>
          </a:p>
          <a:p>
            <a:pPr marL="285750" lvl="0" indent="-285750">
              <a:buFont typeface="Wingdings" panose="05000000000000000000" pitchFamily="2" charset="2"/>
              <a:buChar char="Ø"/>
            </a:pPr>
            <a:r>
              <a:rPr lang="en-IN" sz="1600" dirty="0"/>
              <a:t>Utilizes Python data analytics to identify meaningful patterns and economic trends. </a:t>
            </a:r>
          </a:p>
          <a:p>
            <a:endParaRPr lang="en-IN" sz="1600" dirty="0"/>
          </a:p>
        </p:txBody>
      </p:sp>
      <p:sp>
        <p:nvSpPr>
          <p:cNvPr id="7" name="TextBox 6">
            <a:extLst>
              <a:ext uri="{FF2B5EF4-FFF2-40B4-BE49-F238E27FC236}">
                <a16:creationId xmlns:a16="http://schemas.microsoft.com/office/drawing/2014/main" id="{E815D358-1D00-8DD7-E3B0-01A8C3CAEF00}"/>
              </a:ext>
            </a:extLst>
          </p:cNvPr>
          <p:cNvSpPr txBox="1"/>
          <p:nvPr/>
        </p:nvSpPr>
        <p:spPr>
          <a:xfrm>
            <a:off x="127801" y="2479087"/>
            <a:ext cx="2247731" cy="400110"/>
          </a:xfrm>
          <a:prstGeom prst="rect">
            <a:avLst/>
          </a:prstGeom>
          <a:noFill/>
        </p:spPr>
        <p:txBody>
          <a:bodyPr wrap="none" rtlCol="0">
            <a:spAutoFit/>
          </a:bodyPr>
          <a:lstStyle/>
          <a:p>
            <a:pPr marL="285750" indent="-285750">
              <a:buFont typeface="Wingdings" panose="05000000000000000000" pitchFamily="2" charset="2"/>
              <a:buChar char="v"/>
            </a:pPr>
            <a:r>
              <a:rPr lang="en-IN" sz="2000" b="1" u="sng" dirty="0"/>
              <a:t>Dataset Scope:</a:t>
            </a:r>
          </a:p>
        </p:txBody>
      </p:sp>
      <p:sp>
        <p:nvSpPr>
          <p:cNvPr id="8" name="TextBox 7">
            <a:extLst>
              <a:ext uri="{FF2B5EF4-FFF2-40B4-BE49-F238E27FC236}">
                <a16:creationId xmlns:a16="http://schemas.microsoft.com/office/drawing/2014/main" id="{0B700163-EC7E-4BCF-9345-AABB67F10612}"/>
              </a:ext>
            </a:extLst>
          </p:cNvPr>
          <p:cNvSpPr txBox="1"/>
          <p:nvPr/>
        </p:nvSpPr>
        <p:spPr>
          <a:xfrm>
            <a:off x="347962" y="3017696"/>
            <a:ext cx="7649851" cy="1569660"/>
          </a:xfrm>
          <a:prstGeom prst="rect">
            <a:avLst/>
          </a:prstGeom>
          <a:noFill/>
        </p:spPr>
        <p:txBody>
          <a:bodyPr wrap="none" rtlCol="0">
            <a:spAutoFit/>
          </a:bodyPr>
          <a:lstStyle/>
          <a:p>
            <a:pPr marL="285750" lvl="0" indent="-285750">
              <a:buFont typeface="Wingdings" panose="05000000000000000000" pitchFamily="2" charset="2"/>
              <a:buChar char="Ø"/>
            </a:pPr>
            <a:r>
              <a:rPr lang="en-IN" sz="1600" b="1" dirty="0"/>
              <a:t>Geographical Reach:</a:t>
            </a:r>
            <a:r>
              <a:rPr lang="en-IN" sz="1600" dirty="0"/>
              <a:t> Data spans 8 States and 10 Districts.</a:t>
            </a:r>
            <a:br>
              <a:rPr lang="en-IN" sz="1600" dirty="0"/>
            </a:br>
            <a:endParaRPr lang="en-IN" sz="1600" dirty="0"/>
          </a:p>
          <a:p>
            <a:pPr marL="285750" lvl="0" indent="-285750">
              <a:buFont typeface="Wingdings" panose="05000000000000000000" pitchFamily="2" charset="2"/>
              <a:buChar char="Ø"/>
            </a:pPr>
            <a:r>
              <a:rPr lang="en-IN" sz="1600" b="1" dirty="0"/>
              <a:t>Crop Diversity:</a:t>
            </a:r>
            <a:r>
              <a:rPr lang="en-IN" sz="1600" dirty="0"/>
              <a:t> Covers 8 major crops (e.g., Rice, Wheat, Cotton, Sugarcane).</a:t>
            </a:r>
            <a:br>
              <a:rPr lang="en-IN" sz="1600" dirty="0"/>
            </a:br>
            <a:endParaRPr lang="en-IN" sz="1600" dirty="0"/>
          </a:p>
          <a:p>
            <a:pPr marL="285750" lvl="0" indent="-285750">
              <a:buFont typeface="Wingdings" panose="05000000000000000000" pitchFamily="2" charset="2"/>
              <a:buChar char="Ø"/>
            </a:pPr>
            <a:r>
              <a:rPr lang="en-IN" sz="1600" b="1" dirty="0"/>
              <a:t>Timeframe:</a:t>
            </a:r>
            <a:r>
              <a:rPr lang="en-IN" sz="1600" dirty="0"/>
              <a:t> Evaluates 3 distinct farming cycles (Monsoon, Winter, Summer).</a:t>
            </a:r>
          </a:p>
          <a:p>
            <a:endParaRPr lang="en-IN" sz="1600" dirty="0"/>
          </a:p>
        </p:txBody>
      </p:sp>
      <p:sp>
        <p:nvSpPr>
          <p:cNvPr id="9" name="TextBox 8">
            <a:extLst>
              <a:ext uri="{FF2B5EF4-FFF2-40B4-BE49-F238E27FC236}">
                <a16:creationId xmlns:a16="http://schemas.microsoft.com/office/drawing/2014/main" id="{F502A95F-5FEF-9765-116C-8867C5E1CD4F}"/>
              </a:ext>
            </a:extLst>
          </p:cNvPr>
          <p:cNvSpPr txBox="1"/>
          <p:nvPr/>
        </p:nvSpPr>
        <p:spPr>
          <a:xfrm>
            <a:off x="87565" y="4541189"/>
            <a:ext cx="2940228" cy="369332"/>
          </a:xfrm>
          <a:prstGeom prst="rect">
            <a:avLst/>
          </a:prstGeom>
          <a:noFill/>
        </p:spPr>
        <p:txBody>
          <a:bodyPr wrap="none" rtlCol="0">
            <a:spAutoFit/>
          </a:bodyPr>
          <a:lstStyle/>
          <a:p>
            <a:pPr marL="285750" indent="-285750">
              <a:buFont typeface="Wingdings" panose="05000000000000000000" pitchFamily="2" charset="2"/>
              <a:buChar char="v"/>
            </a:pPr>
            <a:r>
              <a:rPr lang="en-IN" b="1" u="sng" dirty="0"/>
              <a:t>Key Metrics Evaluated:</a:t>
            </a:r>
          </a:p>
        </p:txBody>
      </p:sp>
      <p:sp>
        <p:nvSpPr>
          <p:cNvPr id="10" name="TextBox 9">
            <a:extLst>
              <a:ext uri="{FF2B5EF4-FFF2-40B4-BE49-F238E27FC236}">
                <a16:creationId xmlns:a16="http://schemas.microsoft.com/office/drawing/2014/main" id="{AB080B4F-78D7-5524-5F11-791737BD012C}"/>
              </a:ext>
            </a:extLst>
          </p:cNvPr>
          <p:cNvSpPr txBox="1"/>
          <p:nvPr/>
        </p:nvSpPr>
        <p:spPr>
          <a:xfrm>
            <a:off x="347962" y="5009999"/>
            <a:ext cx="7165103" cy="1569660"/>
          </a:xfrm>
          <a:prstGeom prst="rect">
            <a:avLst/>
          </a:prstGeom>
          <a:noFill/>
        </p:spPr>
        <p:txBody>
          <a:bodyPr wrap="none" rtlCol="0">
            <a:spAutoFit/>
          </a:bodyPr>
          <a:lstStyle/>
          <a:p>
            <a:pPr marL="285750" lvl="0" indent="-285750">
              <a:buFont typeface="Wingdings" panose="05000000000000000000" pitchFamily="2" charset="2"/>
              <a:buChar char="Ø"/>
            </a:pPr>
            <a:r>
              <a:rPr lang="en-IN" sz="1600" b="1" dirty="0"/>
              <a:t>Environmental:</a:t>
            </a:r>
            <a:r>
              <a:rPr lang="en-IN" sz="1600" dirty="0"/>
              <a:t> Natural Rainfall, Average Temperature, and Soil Health.</a:t>
            </a:r>
            <a:br>
              <a:rPr lang="en-IN" sz="1600" dirty="0"/>
            </a:br>
            <a:endParaRPr lang="en-IN" sz="1600" dirty="0"/>
          </a:p>
          <a:p>
            <a:pPr marL="285750" lvl="0" indent="-285750">
              <a:buFont typeface="Wingdings" panose="05000000000000000000" pitchFamily="2" charset="2"/>
              <a:buChar char="Ø"/>
            </a:pPr>
            <a:r>
              <a:rPr lang="en-IN" sz="1600" b="1" dirty="0"/>
              <a:t>Resource Usage:</a:t>
            </a:r>
            <a:r>
              <a:rPr lang="en-IN" sz="1600" dirty="0"/>
              <a:t> Irrigation Methods and Water Efficiency.</a:t>
            </a:r>
            <a:br>
              <a:rPr lang="en-IN" sz="1600" dirty="0"/>
            </a:br>
            <a:endParaRPr lang="en-IN" sz="1600" dirty="0"/>
          </a:p>
          <a:p>
            <a:pPr marL="285750" lvl="0" indent="-285750">
              <a:buFont typeface="Wingdings" panose="05000000000000000000" pitchFamily="2" charset="2"/>
              <a:buChar char="Ø"/>
            </a:pPr>
            <a:r>
              <a:rPr lang="en-IN" sz="1600" b="1" dirty="0"/>
              <a:t>Economic Outcomes:</a:t>
            </a:r>
            <a:r>
              <a:rPr lang="en-IN" sz="1600" dirty="0"/>
              <a:t> Crop Yield, Total Cost, and Final Financial Profit.</a:t>
            </a:r>
          </a:p>
          <a:p>
            <a:endParaRPr lang="en-IN" sz="1600"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F9A7453A-73FA-291D-8C8C-1C5F5C9472B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A894BD5-2B12-C163-65FC-28832CAE5322}"/>
              </a:ext>
            </a:extLst>
          </p:cNvPr>
          <p:cNvSpPr>
            <a:spLocks noGrp="1"/>
          </p:cNvSpPr>
          <p:nvPr>
            <p:ph type="title"/>
          </p:nvPr>
        </p:nvSpPr>
        <p:spPr>
          <a:xfrm>
            <a:off x="127801" y="0"/>
            <a:ext cx="5968199" cy="679550"/>
          </a:xfrm>
        </p:spPr>
        <p:txBody>
          <a:bodyPr>
            <a:normAutofit fontScale="90000"/>
          </a:bodyPr>
          <a:lstStyle/>
          <a:p>
            <a:r>
              <a:rPr lang="en-GB" dirty="0"/>
              <a:t>Project Description</a:t>
            </a:r>
            <a:br>
              <a:rPr lang="en-GB" dirty="0"/>
            </a:br>
            <a:br>
              <a:rPr lang="en-GB" dirty="0"/>
            </a:br>
            <a:endParaRPr lang="en-IN" dirty="0"/>
          </a:p>
        </p:txBody>
      </p:sp>
      <p:pic>
        <p:nvPicPr>
          <p:cNvPr id="13" name="Picture 12">
            <a:extLst>
              <a:ext uri="{FF2B5EF4-FFF2-40B4-BE49-F238E27FC236}">
                <a16:creationId xmlns:a16="http://schemas.microsoft.com/office/drawing/2014/main" id="{BDBFF783-B632-4B22-EE3E-5FE43FDA4C40}"/>
              </a:ext>
            </a:extLst>
          </p:cNvPr>
          <p:cNvPicPr>
            <a:picLocks noChangeAspect="1"/>
          </p:cNvPicPr>
          <p:nvPr/>
        </p:nvPicPr>
        <p:blipFill>
          <a:blip r:embed="rId2"/>
          <a:stretch>
            <a:fillRect/>
          </a:stretch>
        </p:blipFill>
        <p:spPr>
          <a:xfrm>
            <a:off x="516917" y="5621803"/>
            <a:ext cx="3581710" cy="1082134"/>
          </a:xfrm>
          <a:prstGeom prst="rect">
            <a:avLst/>
          </a:prstGeom>
        </p:spPr>
      </p:pic>
      <p:sp>
        <p:nvSpPr>
          <p:cNvPr id="14" name="TextBox 13">
            <a:extLst>
              <a:ext uri="{FF2B5EF4-FFF2-40B4-BE49-F238E27FC236}">
                <a16:creationId xmlns:a16="http://schemas.microsoft.com/office/drawing/2014/main" id="{57E51D7B-99FE-E5D5-3815-D429AC618B1F}"/>
              </a:ext>
            </a:extLst>
          </p:cNvPr>
          <p:cNvSpPr txBox="1"/>
          <p:nvPr/>
        </p:nvSpPr>
        <p:spPr>
          <a:xfrm>
            <a:off x="127801" y="905070"/>
            <a:ext cx="2805576" cy="400110"/>
          </a:xfrm>
          <a:prstGeom prst="rect">
            <a:avLst/>
          </a:prstGeom>
          <a:noFill/>
        </p:spPr>
        <p:txBody>
          <a:bodyPr wrap="none" rtlCol="0">
            <a:spAutoFit/>
          </a:bodyPr>
          <a:lstStyle/>
          <a:p>
            <a:pPr marL="342900" indent="-342900">
              <a:buFont typeface="Wingdings" panose="05000000000000000000" pitchFamily="2" charset="2"/>
              <a:buChar char="v"/>
            </a:pPr>
            <a:r>
              <a:rPr lang="en-IN" sz="2000" b="1" u="sng" dirty="0"/>
              <a:t>Primary Objective:</a:t>
            </a:r>
          </a:p>
        </p:txBody>
      </p:sp>
      <p:sp>
        <p:nvSpPr>
          <p:cNvPr id="15" name="TextBox 14">
            <a:extLst>
              <a:ext uri="{FF2B5EF4-FFF2-40B4-BE49-F238E27FC236}">
                <a16:creationId xmlns:a16="http://schemas.microsoft.com/office/drawing/2014/main" id="{F6F77703-8544-8C11-DDEE-34B73845F1EE}"/>
              </a:ext>
            </a:extLst>
          </p:cNvPr>
          <p:cNvSpPr txBox="1"/>
          <p:nvPr/>
        </p:nvSpPr>
        <p:spPr>
          <a:xfrm>
            <a:off x="199676" y="1452866"/>
            <a:ext cx="6382139" cy="830997"/>
          </a:xfrm>
          <a:prstGeom prst="rect">
            <a:avLst/>
          </a:prstGeom>
          <a:noFill/>
        </p:spPr>
        <p:txBody>
          <a:bodyPr wrap="square" rtlCol="0">
            <a:spAutoFit/>
          </a:bodyPr>
          <a:lstStyle/>
          <a:p>
            <a:pPr marL="285750" indent="-285750">
              <a:buFont typeface="Wingdings" panose="05000000000000000000" pitchFamily="2" charset="2"/>
              <a:buChar char="Ø"/>
            </a:pPr>
            <a:r>
              <a:rPr lang="en-IN" sz="1600" dirty="0"/>
              <a:t>To transform raw agricultural data into actionable insights, providing data-driven recommendations for seasonal crop planning and resource management.</a:t>
            </a:r>
          </a:p>
        </p:txBody>
      </p:sp>
      <p:sp>
        <p:nvSpPr>
          <p:cNvPr id="16" name="TextBox 15">
            <a:extLst>
              <a:ext uri="{FF2B5EF4-FFF2-40B4-BE49-F238E27FC236}">
                <a16:creationId xmlns:a16="http://schemas.microsoft.com/office/drawing/2014/main" id="{90569394-49FD-3AE6-0AAB-7EC49CFB4A29}"/>
              </a:ext>
            </a:extLst>
          </p:cNvPr>
          <p:cNvSpPr txBox="1"/>
          <p:nvPr/>
        </p:nvSpPr>
        <p:spPr>
          <a:xfrm>
            <a:off x="127801" y="2539720"/>
            <a:ext cx="9003706" cy="369332"/>
          </a:xfrm>
          <a:prstGeom prst="rect">
            <a:avLst/>
          </a:prstGeom>
          <a:noFill/>
        </p:spPr>
        <p:txBody>
          <a:bodyPr wrap="square" rtlCol="0">
            <a:spAutoFit/>
          </a:bodyPr>
          <a:lstStyle/>
          <a:p>
            <a:pPr marL="285750" indent="-285750">
              <a:buFont typeface="Wingdings" panose="05000000000000000000" pitchFamily="2" charset="2"/>
              <a:buChar char="v"/>
            </a:pPr>
            <a:r>
              <a:rPr lang="en-IN" b="1" u="sng" dirty="0"/>
              <a:t>Analytical Objective:</a:t>
            </a:r>
            <a:endParaRPr lang="en-IN" dirty="0"/>
          </a:p>
        </p:txBody>
      </p:sp>
      <p:sp>
        <p:nvSpPr>
          <p:cNvPr id="17" name="TextBox 16">
            <a:extLst>
              <a:ext uri="{FF2B5EF4-FFF2-40B4-BE49-F238E27FC236}">
                <a16:creationId xmlns:a16="http://schemas.microsoft.com/office/drawing/2014/main" id="{14CBE7D7-AE51-C885-5E1F-59EFE495186D}"/>
              </a:ext>
            </a:extLst>
          </p:cNvPr>
          <p:cNvSpPr txBox="1"/>
          <p:nvPr/>
        </p:nvSpPr>
        <p:spPr>
          <a:xfrm>
            <a:off x="199676" y="3164909"/>
            <a:ext cx="10720329" cy="1200329"/>
          </a:xfrm>
          <a:prstGeom prst="rect">
            <a:avLst/>
          </a:prstGeom>
          <a:noFill/>
        </p:spPr>
        <p:txBody>
          <a:bodyPr wrap="square" rtlCol="0">
            <a:spAutoFit/>
          </a:bodyPr>
          <a:lstStyle/>
          <a:p>
            <a:pPr marL="285750" indent="-285750">
              <a:buFont typeface="Wingdings" panose="05000000000000000000" pitchFamily="2" charset="2"/>
              <a:buChar char="Ø"/>
            </a:pPr>
            <a:r>
              <a:rPr lang="en-IN" dirty="0"/>
              <a:t>The ultimate goal of </a:t>
            </a:r>
            <a:r>
              <a:rPr lang="en-IN" dirty="0" err="1"/>
              <a:t>analyzing</a:t>
            </a:r>
            <a:r>
              <a:rPr lang="en-IN" dirty="0"/>
              <a:t> these variables is to transition from raw data to actionable intelligence—identifying which seasons yield the highest profits, which seasons drain the most water resources, and how farmers can optimize their crop planning and irrigation methods for better economic outcomes. </a:t>
            </a:r>
          </a:p>
        </p:txBody>
      </p:sp>
    </p:spTree>
    <p:extLst>
      <p:ext uri="{BB962C8B-B14F-4D97-AF65-F5344CB8AC3E}">
        <p14:creationId xmlns:p14="http://schemas.microsoft.com/office/powerpoint/2010/main" val="1048108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293437" y="120776"/>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TextBox 2">
            <a:extLst>
              <a:ext uri="{FF2B5EF4-FFF2-40B4-BE49-F238E27FC236}">
                <a16:creationId xmlns:a16="http://schemas.microsoft.com/office/drawing/2014/main" id="{BDB0DB8D-A813-D704-6B80-A3F095E2177C}"/>
              </a:ext>
            </a:extLst>
          </p:cNvPr>
          <p:cNvSpPr txBox="1"/>
          <p:nvPr/>
        </p:nvSpPr>
        <p:spPr>
          <a:xfrm>
            <a:off x="349887" y="903155"/>
            <a:ext cx="9637745" cy="1231106"/>
          </a:xfrm>
          <a:prstGeom prst="rect">
            <a:avLst/>
          </a:prstGeom>
          <a:noFill/>
        </p:spPr>
        <p:txBody>
          <a:bodyPr wrap="square" rtlCol="0">
            <a:spAutoFit/>
          </a:bodyPr>
          <a:lstStyle/>
          <a:p>
            <a:pPr marL="285750" indent="-285750">
              <a:buFont typeface="Wingdings" panose="05000000000000000000" pitchFamily="2" charset="2"/>
              <a:buChar char="v"/>
            </a:pPr>
            <a:r>
              <a:rPr lang="en-IN" sz="2000" b="1" dirty="0"/>
              <a:t>Farmers and Agronomists</a:t>
            </a:r>
            <a:r>
              <a:rPr lang="en-IN" b="1" dirty="0"/>
              <a:t>: </a:t>
            </a:r>
            <a:r>
              <a:rPr lang="en-IN" dirty="0"/>
              <a:t>These users can utilize the data to understand changing   environmental conditions and examine differences in resource usage. This helps them optimize crop selection, transition to efficient irrigation methods, and maximize profitability based on specific seasonal strengths. </a:t>
            </a:r>
          </a:p>
        </p:txBody>
      </p:sp>
      <p:sp>
        <p:nvSpPr>
          <p:cNvPr id="5" name="TextBox 4">
            <a:extLst>
              <a:ext uri="{FF2B5EF4-FFF2-40B4-BE49-F238E27FC236}">
                <a16:creationId xmlns:a16="http://schemas.microsoft.com/office/drawing/2014/main" id="{B08D880C-2B35-C9D9-5653-52A68C42FCC9}"/>
              </a:ext>
            </a:extLst>
          </p:cNvPr>
          <p:cNvSpPr txBox="1"/>
          <p:nvPr/>
        </p:nvSpPr>
        <p:spPr>
          <a:xfrm>
            <a:off x="2613505" y="3750906"/>
            <a:ext cx="2387703" cy="369332"/>
          </a:xfrm>
          <a:prstGeom prst="rect">
            <a:avLst/>
          </a:prstGeom>
          <a:noFill/>
        </p:spPr>
        <p:txBody>
          <a:bodyPr wrap="square" rtlCol="0">
            <a:spAutoFit/>
          </a:bodyPr>
          <a:lstStyle/>
          <a:p>
            <a:endParaRPr lang="en-IN" dirty="0"/>
          </a:p>
        </p:txBody>
      </p:sp>
      <p:sp>
        <p:nvSpPr>
          <p:cNvPr id="8" name="TextBox 7">
            <a:extLst>
              <a:ext uri="{FF2B5EF4-FFF2-40B4-BE49-F238E27FC236}">
                <a16:creationId xmlns:a16="http://schemas.microsoft.com/office/drawing/2014/main" id="{D42611A0-8C80-C422-9EFC-3030A742C2A4}"/>
              </a:ext>
            </a:extLst>
          </p:cNvPr>
          <p:cNvSpPr txBox="1"/>
          <p:nvPr/>
        </p:nvSpPr>
        <p:spPr>
          <a:xfrm>
            <a:off x="349887" y="2221413"/>
            <a:ext cx="8704736" cy="1508105"/>
          </a:xfrm>
          <a:prstGeom prst="rect">
            <a:avLst/>
          </a:prstGeom>
          <a:noFill/>
        </p:spPr>
        <p:txBody>
          <a:bodyPr wrap="square" rtlCol="0">
            <a:spAutoFit/>
          </a:bodyPr>
          <a:lstStyle/>
          <a:p>
            <a:pPr marL="285750" indent="-285750">
              <a:buFont typeface="Wingdings" panose="05000000000000000000" pitchFamily="2" charset="2"/>
              <a:buChar char="v"/>
            </a:pPr>
            <a:r>
              <a:rPr lang="en-IN" sz="2000" b="1" dirty="0"/>
              <a:t>Agricultural Policymakers</a:t>
            </a:r>
            <a:r>
              <a:rPr lang="en-IN" b="1" dirty="0"/>
              <a:t>:</a:t>
            </a:r>
            <a:r>
              <a:rPr lang="en-IN" dirty="0"/>
              <a:t> Government bodies require these insights to understand variations in agricultural performance and support evidence-based agricultural planning. The data helps them efficiently allocate farming subsidies, manage critical groundwater reserves during dry seasons, and deploy targeted pest-control programs. </a:t>
            </a:r>
          </a:p>
        </p:txBody>
      </p:sp>
      <p:sp>
        <p:nvSpPr>
          <p:cNvPr id="9" name="TextBox 8">
            <a:extLst>
              <a:ext uri="{FF2B5EF4-FFF2-40B4-BE49-F238E27FC236}">
                <a16:creationId xmlns:a16="http://schemas.microsoft.com/office/drawing/2014/main" id="{5A1DD3FC-B4CB-C9AC-BF8C-387BD01DBE39}"/>
              </a:ext>
            </a:extLst>
          </p:cNvPr>
          <p:cNvSpPr txBox="1"/>
          <p:nvPr/>
        </p:nvSpPr>
        <p:spPr>
          <a:xfrm>
            <a:off x="349887" y="3816670"/>
            <a:ext cx="9425146" cy="1231106"/>
          </a:xfrm>
          <a:prstGeom prst="rect">
            <a:avLst/>
          </a:prstGeom>
          <a:noFill/>
        </p:spPr>
        <p:txBody>
          <a:bodyPr wrap="square" rtlCol="0">
            <a:spAutoFit/>
          </a:bodyPr>
          <a:lstStyle/>
          <a:p>
            <a:pPr marL="285750" indent="-285750">
              <a:buFont typeface="Wingdings" panose="05000000000000000000" pitchFamily="2" charset="2"/>
              <a:buChar char="v"/>
            </a:pPr>
            <a:r>
              <a:rPr lang="en-IN" sz="2000" b="1" dirty="0"/>
              <a:t>Supply Chain and Market Analysts</a:t>
            </a:r>
            <a:r>
              <a:rPr lang="en-IN" b="1" dirty="0"/>
              <a:t>:</a:t>
            </a:r>
            <a:r>
              <a:rPr lang="en-IN" dirty="0"/>
              <a:t> These professionals use the analysis to compare performance across different periods and identify important seasonal trends. This allows them to accurately forecast crop production volumes, manage inventory storage, and anticipate seasonal market price fluctuations. </a:t>
            </a:r>
          </a:p>
        </p:txBody>
      </p:sp>
      <p:sp>
        <p:nvSpPr>
          <p:cNvPr id="10" name="TextBox 9">
            <a:extLst>
              <a:ext uri="{FF2B5EF4-FFF2-40B4-BE49-F238E27FC236}">
                <a16:creationId xmlns:a16="http://schemas.microsoft.com/office/drawing/2014/main" id="{0164B483-821D-A69F-1A71-53B73ADF28C6}"/>
              </a:ext>
            </a:extLst>
          </p:cNvPr>
          <p:cNvSpPr txBox="1"/>
          <p:nvPr/>
        </p:nvSpPr>
        <p:spPr>
          <a:xfrm>
            <a:off x="293437" y="5134928"/>
            <a:ext cx="8676303" cy="1231106"/>
          </a:xfrm>
          <a:prstGeom prst="rect">
            <a:avLst/>
          </a:prstGeom>
          <a:noFill/>
        </p:spPr>
        <p:txBody>
          <a:bodyPr wrap="square" rtlCol="0">
            <a:spAutoFit/>
          </a:bodyPr>
          <a:lstStyle/>
          <a:p>
            <a:pPr marL="285750" indent="-285750">
              <a:buFont typeface="Wingdings" panose="05000000000000000000" pitchFamily="2" charset="2"/>
              <a:buChar char="v"/>
            </a:pPr>
            <a:r>
              <a:rPr lang="en-IN" sz="2000" b="1" dirty="0"/>
              <a:t>Researchers and Institutions</a:t>
            </a:r>
            <a:r>
              <a:rPr lang="en-IN" b="1" dirty="0"/>
              <a:t>:</a:t>
            </a:r>
            <a:r>
              <a:rPr lang="en-IN" dirty="0"/>
              <a:t> Academic and scientific stakeholders can use this analysis to discover relationships between seasonal conditions and agricultural outcomes, as well as to identify areas requiring further investigation for future technological advancements. </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0" y="4786604"/>
            <a:ext cx="1188600" cy="2071396"/>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2320485" y="132633"/>
            <a:ext cx="5306291" cy="847817"/>
          </a:xfrm>
        </p:spPr>
        <p:txBody>
          <a:bodyPr>
            <a:normAutofit/>
          </a:bodyPr>
          <a:lstStyle/>
          <a:p>
            <a:r>
              <a:rPr lang="en-US" dirty="0"/>
              <a:t>Technology Used</a:t>
            </a:r>
          </a:p>
        </p:txBody>
      </p:sp>
      <p:sp>
        <p:nvSpPr>
          <p:cNvPr id="4" name="TextBox 3">
            <a:extLst>
              <a:ext uri="{FF2B5EF4-FFF2-40B4-BE49-F238E27FC236}">
                <a16:creationId xmlns:a16="http://schemas.microsoft.com/office/drawing/2014/main" id="{A9653B46-58C2-8E79-0404-488B5C106BB7}"/>
              </a:ext>
            </a:extLst>
          </p:cNvPr>
          <p:cNvSpPr txBox="1"/>
          <p:nvPr/>
        </p:nvSpPr>
        <p:spPr>
          <a:xfrm>
            <a:off x="1188600" y="1208143"/>
            <a:ext cx="10887075" cy="954107"/>
          </a:xfrm>
          <a:prstGeom prst="rect">
            <a:avLst/>
          </a:prstGeom>
          <a:noFill/>
        </p:spPr>
        <p:txBody>
          <a:bodyPr wrap="square" rtlCol="0">
            <a:spAutoFit/>
          </a:bodyPr>
          <a:lstStyle/>
          <a:p>
            <a:pPr marL="342900" indent="-342900">
              <a:buFont typeface="Wingdings" panose="05000000000000000000" pitchFamily="2" charset="2"/>
              <a:buChar char="v"/>
            </a:pPr>
            <a:r>
              <a:rPr lang="en-IN" sz="2000" b="1" u="sng" dirty="0"/>
              <a:t>Google </a:t>
            </a:r>
            <a:r>
              <a:rPr lang="en-IN" sz="2000" b="1" u="sng" dirty="0" err="1"/>
              <a:t>Colab</a:t>
            </a:r>
            <a:r>
              <a:rPr lang="en-IN" sz="2000" b="1" u="sng" dirty="0"/>
              <a:t> (Jupyter Notebook)</a:t>
            </a:r>
            <a:r>
              <a:rPr lang="en-IN" sz="2000" b="1" dirty="0"/>
              <a:t>:  </a:t>
            </a:r>
            <a:r>
              <a:rPr lang="en-IN" dirty="0"/>
              <a:t>Served as the primary integrated development environment (IDE) to document the complete analysis, allowing for seamless execution of code, data exploration, and visual output in a single interactive platform. </a:t>
            </a:r>
          </a:p>
        </p:txBody>
      </p:sp>
      <p:sp>
        <p:nvSpPr>
          <p:cNvPr id="5" name="TextBox 4">
            <a:extLst>
              <a:ext uri="{FF2B5EF4-FFF2-40B4-BE49-F238E27FC236}">
                <a16:creationId xmlns:a16="http://schemas.microsoft.com/office/drawing/2014/main" id="{947FB19B-8B09-9AF9-D609-3CF827BCE250}"/>
              </a:ext>
            </a:extLst>
          </p:cNvPr>
          <p:cNvSpPr txBox="1"/>
          <p:nvPr/>
        </p:nvSpPr>
        <p:spPr>
          <a:xfrm>
            <a:off x="1188600" y="2389944"/>
            <a:ext cx="10887075" cy="677108"/>
          </a:xfrm>
          <a:prstGeom prst="rect">
            <a:avLst/>
          </a:prstGeom>
          <a:noFill/>
        </p:spPr>
        <p:txBody>
          <a:bodyPr wrap="square" rtlCol="0">
            <a:spAutoFit/>
          </a:bodyPr>
          <a:lstStyle/>
          <a:p>
            <a:pPr marL="285750" indent="-285750">
              <a:buFont typeface="Wingdings" panose="05000000000000000000" pitchFamily="2" charset="2"/>
              <a:buChar char="v"/>
            </a:pPr>
            <a:r>
              <a:rPr lang="en-IN" sz="2000" b="1" u="sng" dirty="0"/>
              <a:t>Python 3</a:t>
            </a:r>
            <a:r>
              <a:rPr lang="en-IN" b="1" dirty="0"/>
              <a:t>:</a:t>
            </a:r>
            <a:r>
              <a:rPr lang="en-IN" dirty="0"/>
              <a:t> The core programming language chosen for its robust capabilities in handling large datasets and its extensive ecosystem of data analytics libraries.</a:t>
            </a:r>
          </a:p>
        </p:txBody>
      </p:sp>
      <p:sp>
        <p:nvSpPr>
          <p:cNvPr id="8" name="TextBox 7">
            <a:extLst>
              <a:ext uri="{FF2B5EF4-FFF2-40B4-BE49-F238E27FC236}">
                <a16:creationId xmlns:a16="http://schemas.microsoft.com/office/drawing/2014/main" id="{3D149057-1F63-DC8C-9E69-E3FEE779EAFB}"/>
              </a:ext>
            </a:extLst>
          </p:cNvPr>
          <p:cNvSpPr txBox="1"/>
          <p:nvPr/>
        </p:nvSpPr>
        <p:spPr>
          <a:xfrm>
            <a:off x="1188600" y="3391780"/>
            <a:ext cx="10638975" cy="1231106"/>
          </a:xfrm>
          <a:prstGeom prst="rect">
            <a:avLst/>
          </a:prstGeom>
          <a:noFill/>
        </p:spPr>
        <p:txBody>
          <a:bodyPr wrap="square" rtlCol="0">
            <a:spAutoFit/>
          </a:bodyPr>
          <a:lstStyle/>
          <a:p>
            <a:pPr marL="285750" indent="-285750">
              <a:buFont typeface="Wingdings" panose="05000000000000000000" pitchFamily="2" charset="2"/>
              <a:buChar char="v"/>
            </a:pPr>
            <a:r>
              <a:rPr lang="en-IN" sz="2000" b="1" u="sng" dirty="0"/>
              <a:t>Pandas &amp; NumPy</a:t>
            </a:r>
            <a:r>
              <a:rPr lang="en-IN" b="1" dirty="0"/>
              <a:t>:</a:t>
            </a:r>
            <a:r>
              <a:rPr lang="en-IN" dirty="0"/>
              <a:t> Utilized for all data cleaning, preparation, and manipulation tasks. These libraries were essential for handling missing values (median imputation), aggregating data by season, and performing complex descriptive and statistical analysis on the 4,000 agricultural records.</a:t>
            </a:r>
          </a:p>
        </p:txBody>
      </p:sp>
      <p:sp>
        <p:nvSpPr>
          <p:cNvPr id="10" name="TextBox 9">
            <a:extLst>
              <a:ext uri="{FF2B5EF4-FFF2-40B4-BE49-F238E27FC236}">
                <a16:creationId xmlns:a16="http://schemas.microsoft.com/office/drawing/2014/main" id="{CB5AD57F-D71C-1E6F-2361-67E904ECD9B2}"/>
              </a:ext>
            </a:extLst>
          </p:cNvPr>
          <p:cNvSpPr txBox="1"/>
          <p:nvPr/>
        </p:nvSpPr>
        <p:spPr>
          <a:xfrm>
            <a:off x="1188600" y="4718309"/>
            <a:ext cx="10060478" cy="1231106"/>
          </a:xfrm>
          <a:prstGeom prst="rect">
            <a:avLst/>
          </a:prstGeom>
          <a:noFill/>
        </p:spPr>
        <p:txBody>
          <a:bodyPr wrap="square" rtlCol="0">
            <a:spAutoFit/>
          </a:bodyPr>
          <a:lstStyle/>
          <a:p>
            <a:pPr marL="342900" indent="-342900">
              <a:buFont typeface="Wingdings" panose="05000000000000000000" pitchFamily="2" charset="2"/>
              <a:buChar char="v"/>
            </a:pPr>
            <a:r>
              <a:rPr lang="en-IN" sz="2000" b="1" u="sng" dirty="0"/>
              <a:t>Matplotlib &amp; Seaborn</a:t>
            </a:r>
            <a:r>
              <a:rPr lang="en-IN" sz="2000" b="1" dirty="0"/>
              <a:t>:</a:t>
            </a:r>
            <a:r>
              <a:rPr lang="en-IN" sz="2000" dirty="0"/>
              <a:t> </a:t>
            </a:r>
            <a:r>
              <a:rPr lang="en-IN" dirty="0"/>
              <a:t>Deployed to design and render appropriate univariate, bivariate, and multivariate visualizations. These libraries enabled the creation of high-quality bar charts, correlation heatmaps, and violin plots to effectively communicate significant findings and seasonal patterns from the data.</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116738" y="0"/>
            <a:ext cx="2981643" cy="830997"/>
          </a:xfrm>
        </p:spPr>
        <p:txBody>
          <a:bodyPr>
            <a:normAutofit/>
          </a:bodyPr>
          <a:lstStyle/>
          <a:p>
            <a:r>
              <a:rPr lang="en-GB" sz="4000" dirty="0"/>
              <a:t>RESULTS</a:t>
            </a:r>
            <a:r>
              <a:rPr lang="en-GB" dirty="0"/>
              <a:t>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283AFA1A-CD55-699C-51A8-48C2FA24BCF4}"/>
              </a:ext>
            </a:extLst>
          </p:cNvPr>
          <p:cNvSpPr txBox="1"/>
          <p:nvPr/>
        </p:nvSpPr>
        <p:spPr>
          <a:xfrm>
            <a:off x="2510552" y="230832"/>
            <a:ext cx="8239050" cy="369332"/>
          </a:xfrm>
          <a:prstGeom prst="rect">
            <a:avLst/>
          </a:prstGeom>
          <a:noFill/>
        </p:spPr>
        <p:txBody>
          <a:bodyPr wrap="none" rtlCol="0">
            <a:spAutoFit/>
          </a:bodyPr>
          <a:lstStyle/>
          <a:p>
            <a:pPr marL="285750" indent="-285750">
              <a:buFont typeface="Wingdings" panose="05000000000000000000" pitchFamily="2" charset="2"/>
              <a:buChar char="Ø"/>
            </a:pPr>
            <a:r>
              <a:rPr lang="en-IN" b="1" u="sng" dirty="0"/>
              <a:t>GRAPH 1: COUNT OF AGRICULTURAL RECORDS PER SEASON (BAR CHART)</a:t>
            </a:r>
          </a:p>
        </p:txBody>
      </p:sp>
      <p:pic>
        <p:nvPicPr>
          <p:cNvPr id="6" name="Picture 5">
            <a:extLst>
              <a:ext uri="{FF2B5EF4-FFF2-40B4-BE49-F238E27FC236}">
                <a16:creationId xmlns:a16="http://schemas.microsoft.com/office/drawing/2014/main" id="{06ADD864-D934-90B7-D629-13E8E29FBFC1}"/>
              </a:ext>
            </a:extLst>
          </p:cNvPr>
          <p:cNvPicPr>
            <a:picLocks noChangeAspect="1"/>
          </p:cNvPicPr>
          <p:nvPr/>
        </p:nvPicPr>
        <p:blipFill>
          <a:blip r:embed="rId3"/>
          <a:stretch>
            <a:fillRect/>
          </a:stretch>
        </p:blipFill>
        <p:spPr>
          <a:xfrm>
            <a:off x="116738" y="1152754"/>
            <a:ext cx="4968446" cy="1651019"/>
          </a:xfrm>
          <a:prstGeom prst="rect">
            <a:avLst/>
          </a:prstGeom>
        </p:spPr>
      </p:pic>
      <p:pic>
        <p:nvPicPr>
          <p:cNvPr id="9" name="Picture 8">
            <a:extLst>
              <a:ext uri="{FF2B5EF4-FFF2-40B4-BE49-F238E27FC236}">
                <a16:creationId xmlns:a16="http://schemas.microsoft.com/office/drawing/2014/main" id="{03C36023-5F79-C134-E9E9-E3446D3A1144}"/>
              </a:ext>
            </a:extLst>
          </p:cNvPr>
          <p:cNvPicPr>
            <a:picLocks noChangeAspect="1"/>
          </p:cNvPicPr>
          <p:nvPr/>
        </p:nvPicPr>
        <p:blipFill>
          <a:blip r:embed="rId4"/>
          <a:stretch>
            <a:fillRect/>
          </a:stretch>
        </p:blipFill>
        <p:spPr>
          <a:xfrm>
            <a:off x="5473437" y="871048"/>
            <a:ext cx="6523591" cy="3865450"/>
          </a:xfrm>
          <a:prstGeom prst="rect">
            <a:avLst/>
          </a:prstGeom>
        </p:spPr>
      </p:pic>
      <p:sp>
        <p:nvSpPr>
          <p:cNvPr id="10" name="TextBox 9">
            <a:extLst>
              <a:ext uri="{FF2B5EF4-FFF2-40B4-BE49-F238E27FC236}">
                <a16:creationId xmlns:a16="http://schemas.microsoft.com/office/drawing/2014/main" id="{51B1D374-1E44-01B0-7450-0C0FACE2EE54}"/>
              </a:ext>
            </a:extLst>
          </p:cNvPr>
          <p:cNvSpPr txBox="1"/>
          <p:nvPr/>
        </p:nvSpPr>
        <p:spPr>
          <a:xfrm>
            <a:off x="5085184" y="1916215"/>
            <a:ext cx="410690" cy="369332"/>
          </a:xfrm>
          <a:prstGeom prst="rect">
            <a:avLst/>
          </a:prstGeom>
          <a:noFill/>
        </p:spPr>
        <p:txBody>
          <a:bodyPr wrap="none" rtlCol="0">
            <a:spAutoFit/>
          </a:bodyPr>
          <a:lstStyle/>
          <a:p>
            <a:r>
              <a:rPr lang="en-IN" dirty="0">
                <a:sym typeface="Wingdings" panose="05000000000000000000" pitchFamily="2" charset="2"/>
              </a:rPr>
              <a:t></a:t>
            </a:r>
            <a:endParaRPr lang="en-IN" dirty="0"/>
          </a:p>
        </p:txBody>
      </p:sp>
      <p:sp>
        <p:nvSpPr>
          <p:cNvPr id="11" name="TextBox 10">
            <a:extLst>
              <a:ext uri="{FF2B5EF4-FFF2-40B4-BE49-F238E27FC236}">
                <a16:creationId xmlns:a16="http://schemas.microsoft.com/office/drawing/2014/main" id="{342B465A-8EFE-8FE5-F57C-B712DCEF0D94}"/>
              </a:ext>
            </a:extLst>
          </p:cNvPr>
          <p:cNvSpPr txBox="1"/>
          <p:nvPr/>
        </p:nvSpPr>
        <p:spPr>
          <a:xfrm>
            <a:off x="172535" y="3125530"/>
            <a:ext cx="4968446" cy="3539430"/>
          </a:xfrm>
          <a:prstGeom prst="rect">
            <a:avLst/>
          </a:prstGeom>
          <a:noFill/>
        </p:spPr>
        <p:txBody>
          <a:bodyPr wrap="square" rtlCol="0">
            <a:spAutoFit/>
          </a:bodyPr>
          <a:lstStyle/>
          <a:p>
            <a:pPr marL="285750" lvl="0" indent="-285750">
              <a:buFont typeface="Wingdings" panose="05000000000000000000" pitchFamily="2" charset="2"/>
              <a:buChar char="Ø"/>
            </a:pPr>
            <a:r>
              <a:rPr lang="en-IN" sz="1600" b="1" dirty="0"/>
              <a:t>Detailed Description:</a:t>
            </a:r>
            <a:r>
              <a:rPr lang="en-IN" sz="1600" dirty="0"/>
              <a:t> This foundational chart plots the three seasons (Kharif, Rabi, Zaid) on the X-axis against the total number of farming records on the Y-axis. It gives a bird's-eye view of how the 4,000 dataset entries are distributed across the agricultural calendar.</a:t>
            </a:r>
            <a:br>
              <a:rPr lang="en-IN" sz="1600" dirty="0"/>
            </a:br>
            <a:endParaRPr lang="en-IN" sz="1600" dirty="0"/>
          </a:p>
          <a:p>
            <a:pPr marL="285750" lvl="0" indent="-285750">
              <a:buFont typeface="Wingdings" panose="05000000000000000000" pitchFamily="2" charset="2"/>
              <a:buChar char="Ø"/>
            </a:pPr>
            <a:r>
              <a:rPr lang="en-IN" sz="1600" b="1" dirty="0"/>
              <a:t>Expanded Insight:</a:t>
            </a:r>
            <a:r>
              <a:rPr lang="en-IN" sz="1600" dirty="0"/>
              <a:t> It confirms that our data is robust and well-distributed, with a heavy emphasis on the primary Kharif and Rabi cycles. Because the data is balanced, stakeholders can trust that the subsequent comparative analysis between seasons is statistically reliable and not skewed by a lack of data in any one season.</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9E3B6-ACCD-DDA9-9821-DC71468E84F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4DD2EA9-AD15-B664-0D0A-D6122886D81E}"/>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87AE958-8126-DB7D-2D0C-52AB2AA14CCA}"/>
              </a:ext>
            </a:extLst>
          </p:cNvPr>
          <p:cNvSpPr>
            <a:spLocks noGrp="1"/>
          </p:cNvSpPr>
          <p:nvPr>
            <p:ph type="title"/>
          </p:nvPr>
        </p:nvSpPr>
        <p:spPr>
          <a:xfrm>
            <a:off x="88746" y="0"/>
            <a:ext cx="2981643" cy="666078"/>
          </a:xfrm>
        </p:spPr>
        <p:txBody>
          <a:bodyPr>
            <a:normAutofit fontScale="90000"/>
          </a:bodyPr>
          <a:lstStyle/>
          <a:p>
            <a:r>
              <a:rPr lang="en-GB" sz="4000" dirty="0"/>
              <a:t>RESULTS</a:t>
            </a:r>
            <a:r>
              <a:rPr lang="en-GB" dirty="0"/>
              <a:t> </a:t>
            </a:r>
            <a:endParaRPr lang="en-IN" dirty="0"/>
          </a:p>
        </p:txBody>
      </p:sp>
      <p:sp>
        <p:nvSpPr>
          <p:cNvPr id="7" name="Text Placeholder 30">
            <a:extLst>
              <a:ext uri="{FF2B5EF4-FFF2-40B4-BE49-F238E27FC236}">
                <a16:creationId xmlns:a16="http://schemas.microsoft.com/office/drawing/2014/main" id="{8D136C39-46A6-B259-9C15-818F3E27764E}"/>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4C9321-B680-FC0F-5031-D170B1AFBE3D}"/>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6B5F805D-2637-3757-6D74-A0F50F45C822}"/>
              </a:ext>
            </a:extLst>
          </p:cNvPr>
          <p:cNvPicPr>
            <a:picLocks noChangeAspect="1"/>
          </p:cNvPicPr>
          <p:nvPr/>
        </p:nvPicPr>
        <p:blipFill>
          <a:blip r:embed="rId3"/>
          <a:stretch>
            <a:fillRect/>
          </a:stretch>
        </p:blipFill>
        <p:spPr>
          <a:xfrm>
            <a:off x="172315" y="1275371"/>
            <a:ext cx="5276763" cy="1447026"/>
          </a:xfrm>
          <a:prstGeom prst="rect">
            <a:avLst/>
          </a:prstGeom>
        </p:spPr>
      </p:pic>
      <p:pic>
        <p:nvPicPr>
          <p:cNvPr id="6" name="Picture 5">
            <a:extLst>
              <a:ext uri="{FF2B5EF4-FFF2-40B4-BE49-F238E27FC236}">
                <a16:creationId xmlns:a16="http://schemas.microsoft.com/office/drawing/2014/main" id="{1CBF5CA6-5FF4-E556-D83A-BAD50CB19869}"/>
              </a:ext>
            </a:extLst>
          </p:cNvPr>
          <p:cNvPicPr>
            <a:picLocks noChangeAspect="1"/>
          </p:cNvPicPr>
          <p:nvPr/>
        </p:nvPicPr>
        <p:blipFill>
          <a:blip r:embed="rId4"/>
          <a:stretch>
            <a:fillRect/>
          </a:stretch>
        </p:blipFill>
        <p:spPr>
          <a:xfrm>
            <a:off x="5969536" y="888672"/>
            <a:ext cx="5820903" cy="4493751"/>
          </a:xfrm>
          <a:prstGeom prst="rect">
            <a:avLst/>
          </a:prstGeom>
        </p:spPr>
      </p:pic>
      <p:sp>
        <p:nvSpPr>
          <p:cNvPr id="9" name="TextBox 8">
            <a:extLst>
              <a:ext uri="{FF2B5EF4-FFF2-40B4-BE49-F238E27FC236}">
                <a16:creationId xmlns:a16="http://schemas.microsoft.com/office/drawing/2014/main" id="{6AC08878-99FB-83EE-721A-33F62700AD5E}"/>
              </a:ext>
            </a:extLst>
          </p:cNvPr>
          <p:cNvSpPr txBox="1"/>
          <p:nvPr/>
        </p:nvSpPr>
        <p:spPr>
          <a:xfrm>
            <a:off x="5401654" y="1756783"/>
            <a:ext cx="448640" cy="369332"/>
          </a:xfrm>
          <a:prstGeom prst="rect">
            <a:avLst/>
          </a:prstGeom>
          <a:noFill/>
        </p:spPr>
        <p:txBody>
          <a:bodyPr wrap="square" rtlCol="0">
            <a:spAutoFit/>
          </a:bodyPr>
          <a:lstStyle/>
          <a:p>
            <a:r>
              <a:rPr lang="en-IN" dirty="0">
                <a:sym typeface="Wingdings" panose="05000000000000000000" pitchFamily="2" charset="2"/>
              </a:rPr>
              <a:t></a:t>
            </a:r>
            <a:endParaRPr lang="en-IN" dirty="0"/>
          </a:p>
        </p:txBody>
      </p:sp>
      <p:sp>
        <p:nvSpPr>
          <p:cNvPr id="10" name="TextBox 9">
            <a:extLst>
              <a:ext uri="{FF2B5EF4-FFF2-40B4-BE49-F238E27FC236}">
                <a16:creationId xmlns:a16="http://schemas.microsoft.com/office/drawing/2014/main" id="{80D33F15-4635-735E-C7F6-A49B0BB18A4B}"/>
              </a:ext>
            </a:extLst>
          </p:cNvPr>
          <p:cNvSpPr txBox="1"/>
          <p:nvPr/>
        </p:nvSpPr>
        <p:spPr>
          <a:xfrm>
            <a:off x="2521637" y="259670"/>
            <a:ext cx="6895799" cy="369332"/>
          </a:xfrm>
          <a:prstGeom prst="rect">
            <a:avLst/>
          </a:prstGeom>
          <a:noFill/>
        </p:spPr>
        <p:txBody>
          <a:bodyPr wrap="none" rtlCol="0">
            <a:spAutoFit/>
          </a:bodyPr>
          <a:lstStyle/>
          <a:p>
            <a:pPr marL="285750" indent="-285750">
              <a:buFont typeface="Wingdings" panose="05000000000000000000" pitchFamily="2" charset="2"/>
              <a:buChar char="Ø"/>
            </a:pPr>
            <a:r>
              <a:rPr lang="en-IN" b="1" u="sng" dirty="0"/>
              <a:t>GRAPH 2: AVERAGE RAINFALL (MM) BY SEASON (BAR CHART)</a:t>
            </a:r>
          </a:p>
        </p:txBody>
      </p:sp>
      <p:sp>
        <p:nvSpPr>
          <p:cNvPr id="11" name="TextBox 10">
            <a:extLst>
              <a:ext uri="{FF2B5EF4-FFF2-40B4-BE49-F238E27FC236}">
                <a16:creationId xmlns:a16="http://schemas.microsoft.com/office/drawing/2014/main" id="{812E92CA-346F-1EA3-9A79-B5BB4C4E338B}"/>
              </a:ext>
            </a:extLst>
          </p:cNvPr>
          <p:cNvSpPr txBox="1"/>
          <p:nvPr/>
        </p:nvSpPr>
        <p:spPr>
          <a:xfrm>
            <a:off x="172315" y="3020839"/>
            <a:ext cx="5528283" cy="3293209"/>
          </a:xfrm>
          <a:prstGeom prst="rect">
            <a:avLst/>
          </a:prstGeom>
          <a:noFill/>
        </p:spPr>
        <p:txBody>
          <a:bodyPr wrap="square" rtlCol="0">
            <a:spAutoFit/>
          </a:bodyPr>
          <a:lstStyle/>
          <a:p>
            <a:pPr marL="285750" lvl="0" indent="-285750">
              <a:buFont typeface="Wingdings" panose="05000000000000000000" pitchFamily="2" charset="2"/>
              <a:buChar char="Ø"/>
            </a:pPr>
            <a:r>
              <a:rPr lang="en-IN" sz="1600" b="1" dirty="0"/>
              <a:t>Detailed Description:</a:t>
            </a:r>
            <a:r>
              <a:rPr lang="en-IN" sz="1600" dirty="0"/>
              <a:t> This visual maps the average natural rainfall (in </a:t>
            </a:r>
            <a:r>
              <a:rPr lang="en-IN" sz="1600" dirty="0" err="1"/>
              <a:t>millimeters</a:t>
            </a:r>
            <a:r>
              <a:rPr lang="en-IN" sz="1600" dirty="0"/>
              <a:t>) received during each season.</a:t>
            </a:r>
            <a:br>
              <a:rPr lang="en-IN" sz="1600" dirty="0"/>
            </a:br>
            <a:endParaRPr lang="en-IN" sz="1600" dirty="0"/>
          </a:p>
          <a:p>
            <a:pPr marL="285750" lvl="0" indent="-285750">
              <a:buFont typeface="Wingdings" panose="05000000000000000000" pitchFamily="2" charset="2"/>
              <a:buChar char="Ø"/>
            </a:pPr>
            <a:r>
              <a:rPr lang="en-IN" sz="1600" b="1" dirty="0"/>
              <a:t>Expanded Insight:</a:t>
            </a:r>
            <a:r>
              <a:rPr lang="en-IN" sz="1600" dirty="0"/>
              <a:t> It clearly illustrates the environmental baseline of Indian agriculture. The Kharif (monsoon) season receives massive natural rainfall (over 850mm on average), which drastically dictates what crops can survive and reduces the financial burden of artificial watering. Conversely, the Zaid season receives very little, setting the stage for high resource dependency.</a:t>
            </a:r>
          </a:p>
          <a:p>
            <a:pPr marL="285750" indent="-285750">
              <a:buFont typeface="Wingdings" panose="05000000000000000000" pitchFamily="2" charset="2"/>
              <a:buChar char="Ø"/>
            </a:pPr>
            <a:endParaRPr lang="en-IN" sz="1600" dirty="0"/>
          </a:p>
        </p:txBody>
      </p:sp>
    </p:spTree>
    <p:extLst>
      <p:ext uri="{BB962C8B-B14F-4D97-AF65-F5344CB8AC3E}">
        <p14:creationId xmlns:p14="http://schemas.microsoft.com/office/powerpoint/2010/main" val="3153981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A66DA-EF80-3B01-D3C0-955C2BCB835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01C8F45-811F-330B-82E2-1F7C86B81AB8}"/>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3BE21523-8707-55D4-063D-C01F679E5C6D}"/>
              </a:ext>
            </a:extLst>
          </p:cNvPr>
          <p:cNvSpPr>
            <a:spLocks noGrp="1"/>
          </p:cNvSpPr>
          <p:nvPr>
            <p:ph type="title"/>
          </p:nvPr>
        </p:nvSpPr>
        <p:spPr>
          <a:xfrm>
            <a:off x="79415" y="0"/>
            <a:ext cx="2562385" cy="666079"/>
          </a:xfrm>
        </p:spPr>
        <p:txBody>
          <a:bodyPr>
            <a:normAutofit fontScale="90000"/>
          </a:bodyPr>
          <a:lstStyle/>
          <a:p>
            <a:r>
              <a:rPr lang="en-GB" dirty="0"/>
              <a:t>RESULTS </a:t>
            </a:r>
            <a:endParaRPr lang="en-IN" dirty="0"/>
          </a:p>
        </p:txBody>
      </p:sp>
      <p:sp>
        <p:nvSpPr>
          <p:cNvPr id="7" name="Text Placeholder 30">
            <a:extLst>
              <a:ext uri="{FF2B5EF4-FFF2-40B4-BE49-F238E27FC236}">
                <a16:creationId xmlns:a16="http://schemas.microsoft.com/office/drawing/2014/main" id="{22D482E6-5AC1-F7FC-AB75-6151326D650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5642F58-5C3E-1983-7890-04539586E50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BBBB9DBB-98BB-89BD-192C-61A89480548D}"/>
              </a:ext>
            </a:extLst>
          </p:cNvPr>
          <p:cNvSpPr txBox="1"/>
          <p:nvPr/>
        </p:nvSpPr>
        <p:spPr>
          <a:xfrm>
            <a:off x="2892490" y="214604"/>
            <a:ext cx="8026813" cy="369332"/>
          </a:xfrm>
          <a:prstGeom prst="rect">
            <a:avLst/>
          </a:prstGeom>
          <a:noFill/>
        </p:spPr>
        <p:txBody>
          <a:bodyPr wrap="none" rtlCol="0">
            <a:spAutoFit/>
          </a:bodyPr>
          <a:lstStyle/>
          <a:p>
            <a:pPr marL="285750" indent="-285750">
              <a:buFont typeface="Wingdings" panose="05000000000000000000" pitchFamily="2" charset="2"/>
              <a:buChar char="Ø"/>
            </a:pPr>
            <a:r>
              <a:rPr lang="en-IN" b="1" u="sng" dirty="0"/>
              <a:t>GRAPH 3: AVERAGE CROP YIELD (TONNES/HA) BY SEASON (BAR CHART)</a:t>
            </a:r>
          </a:p>
        </p:txBody>
      </p:sp>
      <p:pic>
        <p:nvPicPr>
          <p:cNvPr id="6" name="Picture 5">
            <a:extLst>
              <a:ext uri="{FF2B5EF4-FFF2-40B4-BE49-F238E27FC236}">
                <a16:creationId xmlns:a16="http://schemas.microsoft.com/office/drawing/2014/main" id="{F016A758-A5FB-A030-575B-89A66AD5AC49}"/>
              </a:ext>
            </a:extLst>
          </p:cNvPr>
          <p:cNvPicPr>
            <a:picLocks noChangeAspect="1"/>
          </p:cNvPicPr>
          <p:nvPr/>
        </p:nvPicPr>
        <p:blipFill>
          <a:blip r:embed="rId3"/>
          <a:stretch>
            <a:fillRect/>
          </a:stretch>
        </p:blipFill>
        <p:spPr>
          <a:xfrm>
            <a:off x="195255" y="1250398"/>
            <a:ext cx="5822219" cy="1751431"/>
          </a:xfrm>
          <a:prstGeom prst="rect">
            <a:avLst/>
          </a:prstGeom>
        </p:spPr>
      </p:pic>
      <p:sp>
        <p:nvSpPr>
          <p:cNvPr id="9" name="TextBox 8">
            <a:extLst>
              <a:ext uri="{FF2B5EF4-FFF2-40B4-BE49-F238E27FC236}">
                <a16:creationId xmlns:a16="http://schemas.microsoft.com/office/drawing/2014/main" id="{AFAFF41B-6E93-F78C-CE85-269CEA46050D}"/>
              </a:ext>
            </a:extLst>
          </p:cNvPr>
          <p:cNvSpPr txBox="1"/>
          <p:nvPr/>
        </p:nvSpPr>
        <p:spPr>
          <a:xfrm>
            <a:off x="5969183" y="1756782"/>
            <a:ext cx="410690" cy="369332"/>
          </a:xfrm>
          <a:prstGeom prst="rect">
            <a:avLst/>
          </a:prstGeom>
          <a:noFill/>
        </p:spPr>
        <p:txBody>
          <a:bodyPr wrap="none" rtlCol="0">
            <a:spAutoFit/>
          </a:bodyPr>
          <a:lstStyle/>
          <a:p>
            <a:r>
              <a:rPr lang="en-IN" dirty="0">
                <a:sym typeface="Wingdings" panose="05000000000000000000" pitchFamily="2" charset="2"/>
              </a:rPr>
              <a:t></a:t>
            </a:r>
            <a:endParaRPr lang="en-IN" dirty="0"/>
          </a:p>
        </p:txBody>
      </p:sp>
      <p:pic>
        <p:nvPicPr>
          <p:cNvPr id="10" name="Picture 9">
            <a:extLst>
              <a:ext uri="{FF2B5EF4-FFF2-40B4-BE49-F238E27FC236}">
                <a16:creationId xmlns:a16="http://schemas.microsoft.com/office/drawing/2014/main" id="{3C686532-33F3-10E6-4B5F-49F41893F4AB}"/>
              </a:ext>
            </a:extLst>
          </p:cNvPr>
          <p:cNvPicPr>
            <a:picLocks noChangeAspect="1"/>
          </p:cNvPicPr>
          <p:nvPr/>
        </p:nvPicPr>
        <p:blipFill>
          <a:blip r:embed="rId4"/>
          <a:stretch>
            <a:fillRect/>
          </a:stretch>
        </p:blipFill>
        <p:spPr>
          <a:xfrm>
            <a:off x="6488685" y="898441"/>
            <a:ext cx="5382333" cy="3972139"/>
          </a:xfrm>
          <a:prstGeom prst="rect">
            <a:avLst/>
          </a:prstGeom>
        </p:spPr>
      </p:pic>
      <p:sp>
        <p:nvSpPr>
          <p:cNvPr id="11" name="TextBox 10">
            <a:extLst>
              <a:ext uri="{FF2B5EF4-FFF2-40B4-BE49-F238E27FC236}">
                <a16:creationId xmlns:a16="http://schemas.microsoft.com/office/drawing/2014/main" id="{2F05681D-9516-8410-0CD3-0EE54892415A}"/>
              </a:ext>
            </a:extLst>
          </p:cNvPr>
          <p:cNvSpPr txBox="1"/>
          <p:nvPr/>
        </p:nvSpPr>
        <p:spPr>
          <a:xfrm>
            <a:off x="195255" y="3429000"/>
            <a:ext cx="5900745" cy="2800767"/>
          </a:xfrm>
          <a:prstGeom prst="rect">
            <a:avLst/>
          </a:prstGeom>
          <a:noFill/>
        </p:spPr>
        <p:txBody>
          <a:bodyPr wrap="square" rtlCol="0">
            <a:spAutoFit/>
          </a:bodyPr>
          <a:lstStyle/>
          <a:p>
            <a:pPr marL="285750" lvl="0" indent="-285750">
              <a:buFont typeface="Wingdings" panose="05000000000000000000" pitchFamily="2" charset="2"/>
              <a:buChar char="Ø"/>
            </a:pPr>
            <a:r>
              <a:rPr lang="en-IN" sz="1600" b="1" dirty="0"/>
              <a:t>Detailed Description:</a:t>
            </a:r>
            <a:r>
              <a:rPr lang="en-IN" sz="1600" dirty="0"/>
              <a:t> This chart measures the physical output of the farms, showing the average tonnes of crop produced per hectare for each season.</a:t>
            </a:r>
            <a:br>
              <a:rPr lang="en-IN" sz="1600" dirty="0"/>
            </a:br>
            <a:endParaRPr lang="en-IN" sz="1600" dirty="0"/>
          </a:p>
          <a:p>
            <a:pPr marL="285750" lvl="0" indent="-285750">
              <a:buFont typeface="Wingdings" panose="05000000000000000000" pitchFamily="2" charset="2"/>
              <a:buChar char="Ø"/>
            </a:pPr>
            <a:r>
              <a:rPr lang="en-IN" sz="1600" b="1" dirty="0"/>
              <a:t>Expanded Insight:</a:t>
            </a:r>
            <a:r>
              <a:rPr lang="en-IN" sz="1600" dirty="0"/>
              <a:t> Kharif emerges as the most productive season in terms of sheer volume. This proves that high natural rainfall directly correlates with maximum physical output. Zaid shows the lowest yield, proving that harsh summer conditions suppress agricultural efficiency even when artificial resources are applied.</a:t>
            </a:r>
          </a:p>
          <a:p>
            <a:pPr marL="285750" indent="-285750">
              <a:buFont typeface="Wingdings" panose="05000000000000000000" pitchFamily="2" charset="2"/>
              <a:buChar char="Ø"/>
            </a:pPr>
            <a:endParaRPr lang="en-IN" sz="1600" dirty="0"/>
          </a:p>
        </p:txBody>
      </p:sp>
    </p:spTree>
    <p:extLst>
      <p:ext uri="{BB962C8B-B14F-4D97-AF65-F5344CB8AC3E}">
        <p14:creationId xmlns:p14="http://schemas.microsoft.com/office/powerpoint/2010/main" val="3279717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A622F-DCBC-B204-6673-30C8B9C0ECC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1DAA55B-F8EC-F4B1-D221-31304D2DC8EF}"/>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B8CE07B-D596-6B5D-E3F8-4F00073F091B}"/>
              </a:ext>
            </a:extLst>
          </p:cNvPr>
          <p:cNvSpPr>
            <a:spLocks noGrp="1"/>
          </p:cNvSpPr>
          <p:nvPr>
            <p:ph type="title"/>
          </p:nvPr>
        </p:nvSpPr>
        <p:spPr>
          <a:xfrm>
            <a:off x="79416" y="0"/>
            <a:ext cx="2449181" cy="814399"/>
          </a:xfrm>
        </p:spPr>
        <p:txBody>
          <a:bodyPr>
            <a:normAutofit fontScale="90000"/>
          </a:bodyPr>
          <a:lstStyle/>
          <a:p>
            <a:r>
              <a:rPr lang="en-GB" dirty="0"/>
              <a:t>RESULTS </a:t>
            </a:r>
            <a:endParaRPr lang="en-IN" dirty="0"/>
          </a:p>
        </p:txBody>
      </p:sp>
      <p:sp>
        <p:nvSpPr>
          <p:cNvPr id="7" name="Text Placeholder 30">
            <a:extLst>
              <a:ext uri="{FF2B5EF4-FFF2-40B4-BE49-F238E27FC236}">
                <a16:creationId xmlns:a16="http://schemas.microsoft.com/office/drawing/2014/main" id="{4DD9F1A8-8418-1DE0-B5BE-1BC6C28851A8}"/>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72AC640-FCDE-4055-D263-4033173BDC8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751A8956-E41B-2156-8715-DE40AE98F168}"/>
              </a:ext>
            </a:extLst>
          </p:cNvPr>
          <p:cNvSpPr txBox="1"/>
          <p:nvPr/>
        </p:nvSpPr>
        <p:spPr>
          <a:xfrm>
            <a:off x="2752530" y="222533"/>
            <a:ext cx="7260257" cy="369332"/>
          </a:xfrm>
          <a:prstGeom prst="rect">
            <a:avLst/>
          </a:prstGeom>
          <a:noFill/>
        </p:spPr>
        <p:txBody>
          <a:bodyPr wrap="none" rtlCol="0">
            <a:spAutoFit/>
          </a:bodyPr>
          <a:lstStyle/>
          <a:p>
            <a:pPr marL="285750" indent="-285750">
              <a:buFont typeface="Wingdings" panose="05000000000000000000" pitchFamily="2" charset="2"/>
              <a:buChar char="Ø"/>
            </a:pPr>
            <a:r>
              <a:rPr lang="en-IN" b="1" u="sng" dirty="0"/>
              <a:t>GRAPH 4: AVERAGE FINANCIAL PROFIT BY SEASON (BAR CHART)</a:t>
            </a:r>
          </a:p>
        </p:txBody>
      </p:sp>
      <p:sp>
        <p:nvSpPr>
          <p:cNvPr id="3" name="TextBox 2">
            <a:extLst>
              <a:ext uri="{FF2B5EF4-FFF2-40B4-BE49-F238E27FC236}">
                <a16:creationId xmlns:a16="http://schemas.microsoft.com/office/drawing/2014/main" id="{CFEE3E70-BE00-7CD2-BDA3-1D2A6853BD43}"/>
              </a:ext>
            </a:extLst>
          </p:cNvPr>
          <p:cNvSpPr txBox="1"/>
          <p:nvPr/>
        </p:nvSpPr>
        <p:spPr>
          <a:xfrm>
            <a:off x="220434" y="3125530"/>
            <a:ext cx="5415253" cy="3539430"/>
          </a:xfrm>
          <a:prstGeom prst="rect">
            <a:avLst/>
          </a:prstGeom>
          <a:noFill/>
        </p:spPr>
        <p:txBody>
          <a:bodyPr wrap="square" rtlCol="0">
            <a:spAutoFit/>
          </a:bodyPr>
          <a:lstStyle/>
          <a:p>
            <a:pPr marL="285750" lvl="0" indent="-285750">
              <a:buFont typeface="Wingdings" panose="05000000000000000000" pitchFamily="2" charset="2"/>
              <a:buChar char="Ø"/>
            </a:pPr>
            <a:r>
              <a:rPr lang="en-IN" sz="1600" b="1" dirty="0"/>
              <a:t>Detailed Description:</a:t>
            </a:r>
            <a:r>
              <a:rPr lang="en-IN" sz="1600" dirty="0"/>
              <a:t> This is a critical economic visual. It calculates the final financial profit (Total Revenue minus Total Cost) and averages it across the three seasons.</a:t>
            </a:r>
            <a:br>
              <a:rPr lang="en-IN" sz="1600" dirty="0"/>
            </a:br>
            <a:endParaRPr lang="en-IN" sz="1600" dirty="0"/>
          </a:p>
          <a:p>
            <a:pPr marL="285750" lvl="0" indent="-285750">
              <a:buFont typeface="Wingdings" panose="05000000000000000000" pitchFamily="2" charset="2"/>
              <a:buChar char="Ø"/>
            </a:pPr>
            <a:r>
              <a:rPr lang="en-IN" sz="1600" b="1" dirty="0"/>
              <a:t>Expanded Insight:</a:t>
            </a:r>
            <a:r>
              <a:rPr lang="en-IN" sz="1600" dirty="0"/>
              <a:t> While Kharif produces the most physical yield, this chart proves it also translates to the highest financial profit. Most importantly, it reveals a major red flag: the Zaid season often results in an average </a:t>
            </a:r>
            <a:r>
              <a:rPr lang="en-IN" sz="1600" i="1" dirty="0"/>
              <a:t>negative</a:t>
            </a:r>
            <a:r>
              <a:rPr lang="en-IN" sz="1600" dirty="0"/>
              <a:t> profit. This tells policymakers that summer farming is currently financially unviable for many farmers due to high input costs.</a:t>
            </a:r>
          </a:p>
          <a:p>
            <a:pPr marL="285750" indent="-285750">
              <a:buFont typeface="Wingdings" panose="05000000000000000000" pitchFamily="2" charset="2"/>
              <a:buChar char="Ø"/>
            </a:pPr>
            <a:endParaRPr lang="en-IN" sz="1600" dirty="0"/>
          </a:p>
        </p:txBody>
      </p:sp>
      <p:pic>
        <p:nvPicPr>
          <p:cNvPr id="9" name="Picture 8">
            <a:extLst>
              <a:ext uri="{FF2B5EF4-FFF2-40B4-BE49-F238E27FC236}">
                <a16:creationId xmlns:a16="http://schemas.microsoft.com/office/drawing/2014/main" id="{5BA4FAF6-9DC7-1B5B-A08A-1655176FC08D}"/>
              </a:ext>
            </a:extLst>
          </p:cNvPr>
          <p:cNvPicPr>
            <a:picLocks noChangeAspect="1"/>
          </p:cNvPicPr>
          <p:nvPr/>
        </p:nvPicPr>
        <p:blipFill>
          <a:blip r:embed="rId3"/>
          <a:stretch>
            <a:fillRect/>
          </a:stretch>
        </p:blipFill>
        <p:spPr>
          <a:xfrm>
            <a:off x="220435" y="1199378"/>
            <a:ext cx="5415253" cy="1556470"/>
          </a:xfrm>
          <a:prstGeom prst="rect">
            <a:avLst/>
          </a:prstGeom>
        </p:spPr>
      </p:pic>
      <p:pic>
        <p:nvPicPr>
          <p:cNvPr id="10" name="Picture 9">
            <a:extLst>
              <a:ext uri="{FF2B5EF4-FFF2-40B4-BE49-F238E27FC236}">
                <a16:creationId xmlns:a16="http://schemas.microsoft.com/office/drawing/2014/main" id="{87D46ED8-88CC-411F-8143-821B259A04AF}"/>
              </a:ext>
            </a:extLst>
          </p:cNvPr>
          <p:cNvPicPr>
            <a:picLocks noChangeAspect="1"/>
          </p:cNvPicPr>
          <p:nvPr/>
        </p:nvPicPr>
        <p:blipFill>
          <a:blip r:embed="rId4"/>
          <a:stretch>
            <a:fillRect/>
          </a:stretch>
        </p:blipFill>
        <p:spPr>
          <a:xfrm>
            <a:off x="6115386" y="954423"/>
            <a:ext cx="5856178" cy="4379985"/>
          </a:xfrm>
          <a:prstGeom prst="rect">
            <a:avLst/>
          </a:prstGeom>
        </p:spPr>
      </p:pic>
      <p:sp>
        <p:nvSpPr>
          <p:cNvPr id="11" name="TextBox 10">
            <a:extLst>
              <a:ext uri="{FF2B5EF4-FFF2-40B4-BE49-F238E27FC236}">
                <a16:creationId xmlns:a16="http://schemas.microsoft.com/office/drawing/2014/main" id="{3A4DD5F7-E041-6251-7F35-9BA37BDC61D0}"/>
              </a:ext>
            </a:extLst>
          </p:cNvPr>
          <p:cNvSpPr txBox="1"/>
          <p:nvPr/>
        </p:nvSpPr>
        <p:spPr>
          <a:xfrm>
            <a:off x="5635689" y="1941449"/>
            <a:ext cx="410690" cy="369332"/>
          </a:xfrm>
          <a:prstGeom prst="rect">
            <a:avLst/>
          </a:prstGeom>
          <a:noFill/>
        </p:spPr>
        <p:txBody>
          <a:bodyPr wrap="none" rtlCol="0">
            <a:spAutoFit/>
          </a:bodyPr>
          <a:lstStyle/>
          <a:p>
            <a:r>
              <a:rPr lang="en-IN" dirty="0">
                <a:sym typeface="Wingdings" panose="05000000000000000000" pitchFamily="2" charset="2"/>
              </a:rPr>
              <a:t></a:t>
            </a:r>
            <a:endParaRPr lang="en-IN" dirty="0"/>
          </a:p>
        </p:txBody>
      </p:sp>
    </p:spTree>
    <p:extLst>
      <p:ext uri="{BB962C8B-B14F-4D97-AF65-F5344CB8AC3E}">
        <p14:creationId xmlns:p14="http://schemas.microsoft.com/office/powerpoint/2010/main" val="939765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7B391-6900-7365-51AE-2E9428F8E7B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84F0C26-0843-6695-970A-14C8ED83362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83EC1720-FDEB-431C-3DB9-EBE528209216}"/>
              </a:ext>
            </a:extLst>
          </p:cNvPr>
          <p:cNvSpPr>
            <a:spLocks noGrp="1"/>
          </p:cNvSpPr>
          <p:nvPr>
            <p:ph type="title"/>
          </p:nvPr>
        </p:nvSpPr>
        <p:spPr>
          <a:xfrm>
            <a:off x="19898" y="0"/>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FD085A38-A712-09AB-D29D-C601B53E4F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358E351-790A-125E-B3B4-5FC857709243}"/>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39B8C0C0-D3B1-842A-00FB-A51AB1A9EDA5}"/>
              </a:ext>
            </a:extLst>
          </p:cNvPr>
          <p:cNvPicPr>
            <a:picLocks noChangeAspect="1"/>
          </p:cNvPicPr>
          <p:nvPr/>
        </p:nvPicPr>
        <p:blipFill>
          <a:blip r:embed="rId3"/>
          <a:stretch>
            <a:fillRect/>
          </a:stretch>
        </p:blipFill>
        <p:spPr>
          <a:xfrm>
            <a:off x="241369" y="1383302"/>
            <a:ext cx="5389361" cy="1612453"/>
          </a:xfrm>
          <a:prstGeom prst="rect">
            <a:avLst/>
          </a:prstGeom>
        </p:spPr>
      </p:pic>
      <p:pic>
        <p:nvPicPr>
          <p:cNvPr id="6" name="Picture 5">
            <a:extLst>
              <a:ext uri="{FF2B5EF4-FFF2-40B4-BE49-F238E27FC236}">
                <a16:creationId xmlns:a16="http://schemas.microsoft.com/office/drawing/2014/main" id="{9976F5B4-095F-1DEA-CFDD-C8F23B8CA9EB}"/>
              </a:ext>
            </a:extLst>
          </p:cNvPr>
          <p:cNvPicPr>
            <a:picLocks noChangeAspect="1"/>
          </p:cNvPicPr>
          <p:nvPr/>
        </p:nvPicPr>
        <p:blipFill>
          <a:blip r:embed="rId4"/>
          <a:stretch>
            <a:fillRect/>
          </a:stretch>
        </p:blipFill>
        <p:spPr>
          <a:xfrm>
            <a:off x="6096000" y="955205"/>
            <a:ext cx="5829599" cy="3961347"/>
          </a:xfrm>
          <a:prstGeom prst="rect">
            <a:avLst/>
          </a:prstGeom>
        </p:spPr>
      </p:pic>
      <p:sp>
        <p:nvSpPr>
          <p:cNvPr id="9" name="TextBox 8">
            <a:extLst>
              <a:ext uri="{FF2B5EF4-FFF2-40B4-BE49-F238E27FC236}">
                <a16:creationId xmlns:a16="http://schemas.microsoft.com/office/drawing/2014/main" id="{DE35427D-0353-4FD8-FE7E-A9A27FFC76EF}"/>
              </a:ext>
            </a:extLst>
          </p:cNvPr>
          <p:cNvSpPr txBox="1"/>
          <p:nvPr/>
        </p:nvSpPr>
        <p:spPr>
          <a:xfrm>
            <a:off x="5630729" y="1928926"/>
            <a:ext cx="410690" cy="369332"/>
          </a:xfrm>
          <a:prstGeom prst="rect">
            <a:avLst/>
          </a:prstGeom>
          <a:noFill/>
        </p:spPr>
        <p:txBody>
          <a:bodyPr wrap="none" rtlCol="0">
            <a:spAutoFit/>
          </a:bodyPr>
          <a:lstStyle/>
          <a:p>
            <a:r>
              <a:rPr lang="en-IN" dirty="0">
                <a:sym typeface="Wingdings" panose="05000000000000000000" pitchFamily="2" charset="2"/>
              </a:rPr>
              <a:t></a:t>
            </a:r>
            <a:endParaRPr lang="en-IN" dirty="0"/>
          </a:p>
        </p:txBody>
      </p:sp>
      <p:sp>
        <p:nvSpPr>
          <p:cNvPr id="10" name="TextBox 9">
            <a:extLst>
              <a:ext uri="{FF2B5EF4-FFF2-40B4-BE49-F238E27FC236}">
                <a16:creationId xmlns:a16="http://schemas.microsoft.com/office/drawing/2014/main" id="{5BDF16FF-B987-750C-1991-7174D6A0C490}"/>
              </a:ext>
            </a:extLst>
          </p:cNvPr>
          <p:cNvSpPr txBox="1"/>
          <p:nvPr/>
        </p:nvSpPr>
        <p:spPr>
          <a:xfrm>
            <a:off x="3508310" y="230832"/>
            <a:ext cx="6799425" cy="369332"/>
          </a:xfrm>
          <a:prstGeom prst="rect">
            <a:avLst/>
          </a:prstGeom>
          <a:noFill/>
        </p:spPr>
        <p:txBody>
          <a:bodyPr wrap="none" rtlCol="0">
            <a:spAutoFit/>
          </a:bodyPr>
          <a:lstStyle/>
          <a:p>
            <a:pPr marL="285750" indent="-285750">
              <a:buFont typeface="Wingdings" panose="05000000000000000000" pitchFamily="2" charset="2"/>
              <a:buChar char="Ø"/>
            </a:pPr>
            <a:r>
              <a:rPr lang="en-IN" b="1" u="sng" dirty="0"/>
              <a:t>GRAPH 5: AVERAGE WATER USAGE BY SEASON (BAR CHART)</a:t>
            </a:r>
          </a:p>
        </p:txBody>
      </p:sp>
      <p:sp>
        <p:nvSpPr>
          <p:cNvPr id="11" name="TextBox 10">
            <a:extLst>
              <a:ext uri="{FF2B5EF4-FFF2-40B4-BE49-F238E27FC236}">
                <a16:creationId xmlns:a16="http://schemas.microsoft.com/office/drawing/2014/main" id="{F0A37879-573D-DEA0-59F1-270DB30FD9B6}"/>
              </a:ext>
            </a:extLst>
          </p:cNvPr>
          <p:cNvSpPr txBox="1"/>
          <p:nvPr/>
        </p:nvSpPr>
        <p:spPr>
          <a:xfrm>
            <a:off x="241369" y="3423073"/>
            <a:ext cx="5389360" cy="2800767"/>
          </a:xfrm>
          <a:prstGeom prst="rect">
            <a:avLst/>
          </a:prstGeom>
          <a:noFill/>
        </p:spPr>
        <p:txBody>
          <a:bodyPr wrap="square" rtlCol="0">
            <a:spAutoFit/>
          </a:bodyPr>
          <a:lstStyle/>
          <a:p>
            <a:pPr marL="285750" lvl="0" indent="-285750">
              <a:buFont typeface="Wingdings" panose="05000000000000000000" pitchFamily="2" charset="2"/>
              <a:buChar char="Ø"/>
            </a:pPr>
            <a:r>
              <a:rPr lang="en-IN" sz="1600" b="1" dirty="0"/>
              <a:t>Detailed Description:</a:t>
            </a:r>
            <a:r>
              <a:rPr lang="en-IN" sz="1600" dirty="0"/>
              <a:t> This graph tracks the volume of artificial irrigation (in cubic meters) required by farms across the different seasons.</a:t>
            </a:r>
            <a:br>
              <a:rPr lang="en-IN" sz="1600" dirty="0"/>
            </a:br>
            <a:endParaRPr lang="en-IN" sz="1600" dirty="0"/>
          </a:p>
          <a:p>
            <a:pPr marL="285750" lvl="0" indent="-285750">
              <a:buFont typeface="Wingdings" panose="05000000000000000000" pitchFamily="2" charset="2"/>
              <a:buChar char="Ø"/>
            </a:pPr>
            <a:r>
              <a:rPr lang="en-IN" sz="1600" b="1" dirty="0"/>
              <a:t>Expanded Insight:</a:t>
            </a:r>
            <a:r>
              <a:rPr lang="en-IN" sz="1600" dirty="0"/>
              <a:t> It highlights a severe resource strain. Because the Zaid season lacks natural rainfall (as seen in Graph 2), farmers are forced to pump massive amounts of groundwater to keep crops alive. This high water usage is the primary driver of the massive financial losses seen in Graph 4.</a:t>
            </a:r>
          </a:p>
          <a:p>
            <a:pPr marL="285750" indent="-285750">
              <a:buFont typeface="Wingdings" panose="05000000000000000000" pitchFamily="2" charset="2"/>
              <a:buChar char="Ø"/>
            </a:pPr>
            <a:endParaRPr lang="en-IN" sz="1600" dirty="0"/>
          </a:p>
        </p:txBody>
      </p:sp>
    </p:spTree>
    <p:extLst>
      <p:ext uri="{BB962C8B-B14F-4D97-AF65-F5344CB8AC3E}">
        <p14:creationId xmlns:p14="http://schemas.microsoft.com/office/powerpoint/2010/main" val="2374151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8C5AE-AE7B-537B-2BF3-24BD25586BB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1EA0B10-77DF-3060-2E60-7B970E2A8AB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FA83308-FEE4-DACF-96AE-47017BC28D68}"/>
              </a:ext>
            </a:extLst>
          </p:cNvPr>
          <p:cNvSpPr>
            <a:spLocks noGrp="1"/>
          </p:cNvSpPr>
          <p:nvPr>
            <p:ph type="title"/>
          </p:nvPr>
        </p:nvSpPr>
        <p:spPr>
          <a:xfrm>
            <a:off x="256697" y="81340"/>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C24B0E9E-BE39-BD07-FC42-8A321A11471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50B87BF6-DFF6-4CB3-AE5B-1E96E3AD442E}"/>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1734280D-A361-C0C2-F89F-2C3079C61D70}"/>
              </a:ext>
            </a:extLst>
          </p:cNvPr>
          <p:cNvSpPr txBox="1"/>
          <p:nvPr/>
        </p:nvSpPr>
        <p:spPr>
          <a:xfrm>
            <a:off x="3452326" y="312172"/>
            <a:ext cx="7436395" cy="369332"/>
          </a:xfrm>
          <a:prstGeom prst="rect">
            <a:avLst/>
          </a:prstGeom>
          <a:noFill/>
        </p:spPr>
        <p:txBody>
          <a:bodyPr wrap="none" rtlCol="0">
            <a:spAutoFit/>
          </a:bodyPr>
          <a:lstStyle/>
          <a:p>
            <a:pPr marL="285750" indent="-285750">
              <a:buFont typeface="Wingdings" panose="05000000000000000000" pitchFamily="2" charset="2"/>
              <a:buChar char="Ø"/>
            </a:pPr>
            <a:r>
              <a:rPr lang="en-IN" b="1" u="sng" dirty="0"/>
              <a:t>GRAPH 6: DISEASE AND PEST RISK SPREAD BY SEASON (BOXPLOT)</a:t>
            </a:r>
          </a:p>
        </p:txBody>
      </p:sp>
      <p:sp>
        <p:nvSpPr>
          <p:cNvPr id="3" name="TextBox 2">
            <a:extLst>
              <a:ext uri="{FF2B5EF4-FFF2-40B4-BE49-F238E27FC236}">
                <a16:creationId xmlns:a16="http://schemas.microsoft.com/office/drawing/2014/main" id="{4215D83E-D9C0-FE3C-925D-61B1BA6F78B2}"/>
              </a:ext>
            </a:extLst>
          </p:cNvPr>
          <p:cNvSpPr txBox="1"/>
          <p:nvPr/>
        </p:nvSpPr>
        <p:spPr>
          <a:xfrm>
            <a:off x="108855" y="3173966"/>
            <a:ext cx="5561044" cy="3293209"/>
          </a:xfrm>
          <a:prstGeom prst="rect">
            <a:avLst/>
          </a:prstGeom>
          <a:noFill/>
        </p:spPr>
        <p:txBody>
          <a:bodyPr wrap="square" rtlCol="0">
            <a:spAutoFit/>
          </a:bodyPr>
          <a:lstStyle/>
          <a:p>
            <a:pPr marL="285750" lvl="0" indent="-285750">
              <a:buFont typeface="Wingdings" panose="05000000000000000000" pitchFamily="2" charset="2"/>
              <a:buChar char="Ø"/>
            </a:pPr>
            <a:r>
              <a:rPr lang="en-IN" sz="1600" b="1" dirty="0"/>
              <a:t>Detailed Description:</a:t>
            </a:r>
            <a:r>
              <a:rPr lang="en-IN" sz="1600" dirty="0"/>
              <a:t> This boxplot displays the percentage risk of crop disease and pest infestations. The boxes show where the majority of the risk percentages fall, while the "whiskers" show the extreme highs and lows.</a:t>
            </a:r>
            <a:br>
              <a:rPr lang="en-IN" sz="1600" dirty="0"/>
            </a:br>
            <a:endParaRPr lang="en-IN" sz="1600" dirty="0"/>
          </a:p>
          <a:p>
            <a:pPr marL="285750" lvl="0" indent="-285750">
              <a:buFont typeface="Wingdings" panose="05000000000000000000" pitchFamily="2" charset="2"/>
              <a:buChar char="Ø"/>
            </a:pPr>
            <a:r>
              <a:rPr lang="en-IN" sz="1600" b="1" dirty="0"/>
              <a:t>Expanded Insight:</a:t>
            </a:r>
            <a:r>
              <a:rPr lang="en-IN" sz="1600" dirty="0"/>
              <a:t> It introduces the concept of "risk vs. reward." Kharif may be the most profitable and highest-yielding season, but the high moisture and humidity create a breeding ground for pests. Farmers planting in Kharif must actively invest in pest management to secure their high yields.</a:t>
            </a:r>
          </a:p>
          <a:p>
            <a:pPr marL="285750" indent="-285750">
              <a:buFont typeface="Wingdings" panose="05000000000000000000" pitchFamily="2" charset="2"/>
              <a:buChar char="Ø"/>
            </a:pPr>
            <a:endParaRPr lang="en-IN" sz="1600" dirty="0"/>
          </a:p>
        </p:txBody>
      </p:sp>
      <p:pic>
        <p:nvPicPr>
          <p:cNvPr id="9" name="Picture 8">
            <a:extLst>
              <a:ext uri="{FF2B5EF4-FFF2-40B4-BE49-F238E27FC236}">
                <a16:creationId xmlns:a16="http://schemas.microsoft.com/office/drawing/2014/main" id="{6AA9FAFD-1DED-BE4E-D324-DE344B554FB4}"/>
              </a:ext>
            </a:extLst>
          </p:cNvPr>
          <p:cNvPicPr>
            <a:picLocks noChangeAspect="1"/>
          </p:cNvPicPr>
          <p:nvPr/>
        </p:nvPicPr>
        <p:blipFill>
          <a:blip r:embed="rId3"/>
          <a:stretch>
            <a:fillRect/>
          </a:stretch>
        </p:blipFill>
        <p:spPr>
          <a:xfrm>
            <a:off x="217711" y="1240466"/>
            <a:ext cx="5343333" cy="1605371"/>
          </a:xfrm>
          <a:prstGeom prst="rect">
            <a:avLst/>
          </a:prstGeom>
        </p:spPr>
      </p:pic>
      <p:pic>
        <p:nvPicPr>
          <p:cNvPr id="10" name="Picture 9">
            <a:extLst>
              <a:ext uri="{FF2B5EF4-FFF2-40B4-BE49-F238E27FC236}">
                <a16:creationId xmlns:a16="http://schemas.microsoft.com/office/drawing/2014/main" id="{A0437D0F-5D0D-ACF9-50DB-063A6A63A805}"/>
              </a:ext>
            </a:extLst>
          </p:cNvPr>
          <p:cNvPicPr>
            <a:picLocks noChangeAspect="1"/>
          </p:cNvPicPr>
          <p:nvPr/>
        </p:nvPicPr>
        <p:blipFill>
          <a:blip r:embed="rId4"/>
          <a:stretch>
            <a:fillRect/>
          </a:stretch>
        </p:blipFill>
        <p:spPr>
          <a:xfrm>
            <a:off x="6017474" y="851688"/>
            <a:ext cx="5917829" cy="4336132"/>
          </a:xfrm>
          <a:prstGeom prst="rect">
            <a:avLst/>
          </a:prstGeom>
        </p:spPr>
      </p:pic>
      <p:sp>
        <p:nvSpPr>
          <p:cNvPr id="11" name="TextBox 10">
            <a:extLst>
              <a:ext uri="{FF2B5EF4-FFF2-40B4-BE49-F238E27FC236}">
                <a16:creationId xmlns:a16="http://schemas.microsoft.com/office/drawing/2014/main" id="{1C8A8079-E984-28FD-6FA8-0D4CB0D1E348}"/>
              </a:ext>
            </a:extLst>
          </p:cNvPr>
          <p:cNvSpPr txBox="1"/>
          <p:nvPr/>
        </p:nvSpPr>
        <p:spPr>
          <a:xfrm>
            <a:off x="5606784" y="1858485"/>
            <a:ext cx="410690" cy="369332"/>
          </a:xfrm>
          <a:prstGeom prst="rect">
            <a:avLst/>
          </a:prstGeom>
          <a:noFill/>
        </p:spPr>
        <p:txBody>
          <a:bodyPr wrap="none" rtlCol="0">
            <a:spAutoFit/>
          </a:bodyPr>
          <a:lstStyle/>
          <a:p>
            <a:r>
              <a:rPr lang="en-IN" dirty="0">
                <a:sym typeface="Wingdings" panose="05000000000000000000" pitchFamily="2" charset="2"/>
              </a:rPr>
              <a:t></a:t>
            </a:r>
            <a:endParaRPr lang="en-IN" dirty="0"/>
          </a:p>
        </p:txBody>
      </p:sp>
    </p:spTree>
    <p:extLst>
      <p:ext uri="{BB962C8B-B14F-4D97-AF65-F5344CB8AC3E}">
        <p14:creationId xmlns:p14="http://schemas.microsoft.com/office/powerpoint/2010/main" val="2398272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6DEEC-9B5C-A727-7452-2F4AE53A623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7E84D63-31A3-9C1D-FE56-A5B37AB86939}"/>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3C418E20-31C3-126D-C593-BD0D1467E8B8}"/>
              </a:ext>
            </a:extLst>
          </p:cNvPr>
          <p:cNvSpPr>
            <a:spLocks noGrp="1"/>
          </p:cNvSpPr>
          <p:nvPr>
            <p:ph type="title"/>
          </p:nvPr>
        </p:nvSpPr>
        <p:spPr>
          <a:xfrm>
            <a:off x="98077" y="0"/>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C9A43832-4C76-0EE1-8871-4DEB461810A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9D68940E-4BA6-2087-8FBF-BBE5A72398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6BCF8CBD-D367-A312-AD4D-074DC22D87AD}"/>
              </a:ext>
            </a:extLst>
          </p:cNvPr>
          <p:cNvPicPr>
            <a:picLocks noChangeAspect="1"/>
          </p:cNvPicPr>
          <p:nvPr/>
        </p:nvPicPr>
        <p:blipFill>
          <a:blip r:embed="rId3"/>
          <a:stretch>
            <a:fillRect/>
          </a:stretch>
        </p:blipFill>
        <p:spPr>
          <a:xfrm>
            <a:off x="98077" y="1688613"/>
            <a:ext cx="5138791" cy="1623890"/>
          </a:xfrm>
          <a:prstGeom prst="rect">
            <a:avLst/>
          </a:prstGeom>
        </p:spPr>
      </p:pic>
      <p:pic>
        <p:nvPicPr>
          <p:cNvPr id="6" name="Picture 5">
            <a:extLst>
              <a:ext uri="{FF2B5EF4-FFF2-40B4-BE49-F238E27FC236}">
                <a16:creationId xmlns:a16="http://schemas.microsoft.com/office/drawing/2014/main" id="{0810EA4D-5756-4656-5602-1FDBF976804F}"/>
              </a:ext>
            </a:extLst>
          </p:cNvPr>
          <p:cNvPicPr>
            <a:picLocks noChangeAspect="1"/>
          </p:cNvPicPr>
          <p:nvPr/>
        </p:nvPicPr>
        <p:blipFill>
          <a:blip r:embed="rId4"/>
          <a:stretch>
            <a:fillRect/>
          </a:stretch>
        </p:blipFill>
        <p:spPr>
          <a:xfrm>
            <a:off x="5737934" y="1608410"/>
            <a:ext cx="6191218" cy="4136008"/>
          </a:xfrm>
          <a:prstGeom prst="rect">
            <a:avLst/>
          </a:prstGeom>
        </p:spPr>
      </p:pic>
      <p:sp>
        <p:nvSpPr>
          <p:cNvPr id="9" name="TextBox 8">
            <a:extLst>
              <a:ext uri="{FF2B5EF4-FFF2-40B4-BE49-F238E27FC236}">
                <a16:creationId xmlns:a16="http://schemas.microsoft.com/office/drawing/2014/main" id="{767997AF-AB62-DCCB-04BF-AD5551DB2DE7}"/>
              </a:ext>
            </a:extLst>
          </p:cNvPr>
          <p:cNvSpPr txBox="1"/>
          <p:nvPr/>
        </p:nvSpPr>
        <p:spPr>
          <a:xfrm>
            <a:off x="5297949" y="2315892"/>
            <a:ext cx="410690" cy="369332"/>
          </a:xfrm>
          <a:prstGeom prst="rect">
            <a:avLst/>
          </a:prstGeom>
          <a:noFill/>
        </p:spPr>
        <p:txBody>
          <a:bodyPr wrap="none" rtlCol="0">
            <a:spAutoFit/>
          </a:bodyPr>
          <a:lstStyle/>
          <a:p>
            <a:r>
              <a:rPr lang="en-IN" dirty="0">
                <a:sym typeface="Wingdings" panose="05000000000000000000" pitchFamily="2" charset="2"/>
              </a:rPr>
              <a:t></a:t>
            </a:r>
            <a:endParaRPr lang="en-IN" dirty="0"/>
          </a:p>
        </p:txBody>
      </p:sp>
      <p:sp>
        <p:nvSpPr>
          <p:cNvPr id="10" name="TextBox 9">
            <a:extLst>
              <a:ext uri="{FF2B5EF4-FFF2-40B4-BE49-F238E27FC236}">
                <a16:creationId xmlns:a16="http://schemas.microsoft.com/office/drawing/2014/main" id="{838DE37D-D1D3-5085-C251-D9121377E2A4}"/>
              </a:ext>
            </a:extLst>
          </p:cNvPr>
          <p:cNvSpPr txBox="1"/>
          <p:nvPr/>
        </p:nvSpPr>
        <p:spPr>
          <a:xfrm>
            <a:off x="123134" y="3676414"/>
            <a:ext cx="5391895" cy="3293209"/>
          </a:xfrm>
          <a:prstGeom prst="rect">
            <a:avLst/>
          </a:prstGeom>
          <a:noFill/>
        </p:spPr>
        <p:txBody>
          <a:bodyPr wrap="square" rtlCol="0">
            <a:spAutoFit/>
          </a:bodyPr>
          <a:lstStyle/>
          <a:p>
            <a:pPr marL="285750" lvl="0" indent="-285750">
              <a:buFont typeface="Wingdings" panose="05000000000000000000" pitchFamily="2" charset="2"/>
              <a:buChar char="Ø"/>
            </a:pPr>
            <a:r>
              <a:rPr lang="en-IN" sz="1600" b="1" dirty="0"/>
              <a:t>Detailed Description:</a:t>
            </a:r>
            <a:r>
              <a:rPr lang="en-IN" sz="1600" dirty="0"/>
              <a:t> This visual breaks down exactly which of the 8 crops (Wheat, Rice, Cotton, etc.) are planted in each season using color-coded bars.</a:t>
            </a:r>
            <a:br>
              <a:rPr lang="en-IN" sz="1600" dirty="0"/>
            </a:br>
            <a:endParaRPr lang="en-IN" sz="1600" dirty="0"/>
          </a:p>
          <a:p>
            <a:pPr marL="285750" lvl="0" indent="-285750">
              <a:buFont typeface="Wingdings" panose="05000000000000000000" pitchFamily="2" charset="2"/>
              <a:buChar char="Ø"/>
            </a:pPr>
            <a:r>
              <a:rPr lang="en-IN" sz="1600" b="1" dirty="0"/>
              <a:t>Expanded Insight:</a:t>
            </a:r>
            <a:r>
              <a:rPr lang="en-IN" sz="1600" dirty="0"/>
              <a:t> It shows clear </a:t>
            </a:r>
            <a:r>
              <a:rPr lang="en-IN" sz="1600" dirty="0" err="1"/>
              <a:t>behavioral</a:t>
            </a:r>
            <a:r>
              <a:rPr lang="en-IN" sz="1600" dirty="0"/>
              <a:t> patterns among farmers. For example, water-heavy crops like Rice dominate the Kharif season to take advantage of the monsoon, while heat-resistant or quick-growing crops are attempted in the Zaid season. It proves farmers are actively trying to match crop biology to seasonal weather.</a:t>
            </a:r>
          </a:p>
          <a:p>
            <a:pPr marL="285750" indent="-285750">
              <a:buFont typeface="Wingdings" panose="05000000000000000000" pitchFamily="2" charset="2"/>
              <a:buChar char="Ø"/>
            </a:pPr>
            <a:endParaRPr lang="en-IN" sz="1600" dirty="0"/>
          </a:p>
        </p:txBody>
      </p:sp>
      <p:sp>
        <p:nvSpPr>
          <p:cNvPr id="11" name="TextBox 10">
            <a:extLst>
              <a:ext uri="{FF2B5EF4-FFF2-40B4-BE49-F238E27FC236}">
                <a16:creationId xmlns:a16="http://schemas.microsoft.com/office/drawing/2014/main" id="{46224416-0ABE-D43C-40BE-A01DDAB17837}"/>
              </a:ext>
            </a:extLst>
          </p:cNvPr>
          <p:cNvSpPr txBox="1"/>
          <p:nvPr/>
        </p:nvSpPr>
        <p:spPr>
          <a:xfrm>
            <a:off x="144764" y="908750"/>
            <a:ext cx="9941965" cy="369332"/>
          </a:xfrm>
          <a:prstGeom prst="rect">
            <a:avLst/>
          </a:prstGeom>
          <a:noFill/>
        </p:spPr>
        <p:txBody>
          <a:bodyPr wrap="square" rtlCol="0">
            <a:spAutoFit/>
          </a:bodyPr>
          <a:lstStyle/>
          <a:p>
            <a:pPr marL="285750" indent="-285750">
              <a:buFont typeface="Wingdings" panose="05000000000000000000" pitchFamily="2" charset="2"/>
              <a:buChar char="Ø"/>
            </a:pPr>
            <a:r>
              <a:rPr lang="en-IN" b="1" u="sng" dirty="0"/>
              <a:t>GRAPH 7: CROP VARIETIES PLANTED ACROSS DIFFERENT SEASONS (GROUPED BAR CHART)</a:t>
            </a:r>
          </a:p>
        </p:txBody>
      </p:sp>
    </p:spTree>
    <p:extLst>
      <p:ext uri="{BB962C8B-B14F-4D97-AF65-F5344CB8AC3E}">
        <p14:creationId xmlns:p14="http://schemas.microsoft.com/office/powerpoint/2010/main" val="3785050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882D8-516A-26AD-0FC7-DD1A1FE3506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085C2EE-BD57-46D0-7374-0860F04E473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81FF7FB1-AF04-9A9A-1F83-C4345924245C}"/>
              </a:ext>
            </a:extLst>
          </p:cNvPr>
          <p:cNvSpPr>
            <a:spLocks noGrp="1"/>
          </p:cNvSpPr>
          <p:nvPr>
            <p:ph type="title"/>
          </p:nvPr>
        </p:nvSpPr>
        <p:spPr>
          <a:xfrm>
            <a:off x="83976" y="90403"/>
            <a:ext cx="2528596" cy="830997"/>
          </a:xfrm>
        </p:spPr>
        <p:txBody>
          <a:bodyPr>
            <a:normAutofit fontScale="90000"/>
          </a:bodyPr>
          <a:lstStyle/>
          <a:p>
            <a:r>
              <a:rPr lang="en-GB" dirty="0"/>
              <a:t>RESULTS </a:t>
            </a:r>
            <a:endParaRPr lang="en-IN" dirty="0"/>
          </a:p>
        </p:txBody>
      </p:sp>
      <p:sp>
        <p:nvSpPr>
          <p:cNvPr id="7" name="Text Placeholder 30">
            <a:extLst>
              <a:ext uri="{FF2B5EF4-FFF2-40B4-BE49-F238E27FC236}">
                <a16:creationId xmlns:a16="http://schemas.microsoft.com/office/drawing/2014/main" id="{FB466794-6C33-9172-5AC9-9D62A8ED9686}"/>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F6F99E8C-CE55-8D1B-7D8B-4B049F6CB93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8D624D13-59A1-2AE6-27E1-EE243A758EE2}"/>
              </a:ext>
            </a:extLst>
          </p:cNvPr>
          <p:cNvSpPr txBox="1"/>
          <p:nvPr/>
        </p:nvSpPr>
        <p:spPr>
          <a:xfrm>
            <a:off x="3198029" y="321235"/>
            <a:ext cx="7148304" cy="369332"/>
          </a:xfrm>
          <a:prstGeom prst="rect">
            <a:avLst/>
          </a:prstGeom>
          <a:noFill/>
        </p:spPr>
        <p:txBody>
          <a:bodyPr wrap="none" rtlCol="0">
            <a:spAutoFit/>
          </a:bodyPr>
          <a:lstStyle/>
          <a:p>
            <a:pPr marL="285750" indent="-285750">
              <a:buFont typeface="Wingdings" panose="05000000000000000000" pitchFamily="2" charset="2"/>
              <a:buChar char="Ø"/>
            </a:pPr>
            <a:r>
              <a:rPr lang="en-IN" b="1" u="sng" dirty="0"/>
              <a:t>GRAPH 8: CORRELATION HEATMAP OF AGRICULTURAL METRICS</a:t>
            </a:r>
          </a:p>
        </p:txBody>
      </p:sp>
      <p:pic>
        <p:nvPicPr>
          <p:cNvPr id="6" name="Picture 5">
            <a:extLst>
              <a:ext uri="{FF2B5EF4-FFF2-40B4-BE49-F238E27FC236}">
                <a16:creationId xmlns:a16="http://schemas.microsoft.com/office/drawing/2014/main" id="{8187F3F8-0EC3-33DD-6BF4-3B2F12F91CA4}"/>
              </a:ext>
            </a:extLst>
          </p:cNvPr>
          <p:cNvPicPr>
            <a:picLocks noChangeAspect="1"/>
          </p:cNvPicPr>
          <p:nvPr/>
        </p:nvPicPr>
        <p:blipFill>
          <a:blip r:embed="rId3"/>
          <a:stretch>
            <a:fillRect/>
          </a:stretch>
        </p:blipFill>
        <p:spPr>
          <a:xfrm>
            <a:off x="123093" y="1097455"/>
            <a:ext cx="4719495" cy="1692398"/>
          </a:xfrm>
          <a:prstGeom prst="rect">
            <a:avLst/>
          </a:prstGeom>
        </p:spPr>
      </p:pic>
      <p:pic>
        <p:nvPicPr>
          <p:cNvPr id="9" name="Picture 8">
            <a:extLst>
              <a:ext uri="{FF2B5EF4-FFF2-40B4-BE49-F238E27FC236}">
                <a16:creationId xmlns:a16="http://schemas.microsoft.com/office/drawing/2014/main" id="{CD24AEDD-363E-AD83-27B1-0228F861654C}"/>
              </a:ext>
            </a:extLst>
          </p:cNvPr>
          <p:cNvPicPr>
            <a:picLocks noChangeAspect="1"/>
          </p:cNvPicPr>
          <p:nvPr/>
        </p:nvPicPr>
        <p:blipFill>
          <a:blip r:embed="rId4"/>
          <a:stretch>
            <a:fillRect/>
          </a:stretch>
        </p:blipFill>
        <p:spPr>
          <a:xfrm>
            <a:off x="5657552" y="1032141"/>
            <a:ext cx="6213465" cy="3969067"/>
          </a:xfrm>
          <a:prstGeom prst="rect">
            <a:avLst/>
          </a:prstGeom>
        </p:spPr>
      </p:pic>
      <p:sp>
        <p:nvSpPr>
          <p:cNvPr id="11" name="TextBox 10">
            <a:extLst>
              <a:ext uri="{FF2B5EF4-FFF2-40B4-BE49-F238E27FC236}">
                <a16:creationId xmlns:a16="http://schemas.microsoft.com/office/drawing/2014/main" id="{567CBF2B-77B9-71B7-E856-13BF2FAE3D93}"/>
              </a:ext>
            </a:extLst>
          </p:cNvPr>
          <p:cNvSpPr txBox="1"/>
          <p:nvPr/>
        </p:nvSpPr>
        <p:spPr>
          <a:xfrm>
            <a:off x="4847031" y="1883771"/>
            <a:ext cx="410690" cy="369332"/>
          </a:xfrm>
          <a:prstGeom prst="rect">
            <a:avLst/>
          </a:prstGeom>
          <a:noFill/>
        </p:spPr>
        <p:txBody>
          <a:bodyPr wrap="none" rtlCol="0">
            <a:spAutoFit/>
          </a:bodyPr>
          <a:lstStyle/>
          <a:p>
            <a:r>
              <a:rPr lang="en-IN" dirty="0">
                <a:sym typeface="Wingdings" panose="05000000000000000000" pitchFamily="2" charset="2"/>
              </a:rPr>
              <a:t></a:t>
            </a:r>
            <a:endParaRPr lang="en-IN" dirty="0"/>
          </a:p>
        </p:txBody>
      </p:sp>
      <p:sp>
        <p:nvSpPr>
          <p:cNvPr id="12" name="TextBox 11">
            <a:extLst>
              <a:ext uri="{FF2B5EF4-FFF2-40B4-BE49-F238E27FC236}">
                <a16:creationId xmlns:a16="http://schemas.microsoft.com/office/drawing/2014/main" id="{28A95F07-5302-89B5-FE99-662E23C850EB}"/>
              </a:ext>
            </a:extLst>
          </p:cNvPr>
          <p:cNvSpPr txBox="1"/>
          <p:nvPr/>
        </p:nvSpPr>
        <p:spPr>
          <a:xfrm>
            <a:off x="128240" y="3146837"/>
            <a:ext cx="5529312" cy="3539430"/>
          </a:xfrm>
          <a:prstGeom prst="rect">
            <a:avLst/>
          </a:prstGeom>
          <a:noFill/>
        </p:spPr>
        <p:txBody>
          <a:bodyPr wrap="square" rtlCol="0">
            <a:spAutoFit/>
          </a:bodyPr>
          <a:lstStyle/>
          <a:p>
            <a:pPr marL="285750" lvl="0" indent="-285750">
              <a:buFont typeface="Wingdings" panose="05000000000000000000" pitchFamily="2" charset="2"/>
              <a:buChar char="Ø"/>
            </a:pPr>
            <a:r>
              <a:rPr lang="en-IN" sz="1600" b="1" dirty="0"/>
              <a:t>Detailed Description:</a:t>
            </a:r>
            <a:r>
              <a:rPr lang="en-IN" sz="1600" dirty="0"/>
              <a:t> This advanced mathematical chart uses a </a:t>
            </a:r>
            <a:r>
              <a:rPr lang="en-IN" sz="1600" dirty="0" err="1"/>
              <a:t>color</a:t>
            </a:r>
            <a:r>
              <a:rPr lang="en-IN" sz="1600" dirty="0"/>
              <a:t> scale (red to green) to show how every numerical variable interacts with the others. A score closer to 1.0 means a strong positive relationship; a score closer to -1.0 means a strong negative relationship.</a:t>
            </a:r>
            <a:br>
              <a:rPr lang="en-IN" sz="1600" dirty="0"/>
            </a:br>
            <a:endParaRPr lang="en-IN" sz="1600" dirty="0"/>
          </a:p>
          <a:p>
            <a:pPr marL="285750" lvl="0" indent="-285750">
              <a:buFont typeface="Wingdings" panose="05000000000000000000" pitchFamily="2" charset="2"/>
              <a:buChar char="Ø"/>
            </a:pPr>
            <a:r>
              <a:rPr lang="en-IN" sz="1600" b="1" dirty="0"/>
              <a:t>Expanded Insight:</a:t>
            </a:r>
            <a:r>
              <a:rPr lang="en-IN" sz="1600" dirty="0"/>
              <a:t> This is the analytical proof of our earlier observations. It statistically confirms that high rainfall strongly correlates with high yield. It also shows that as fertilizer usage goes up, total costs rise sharply, but profits do not always follow, warning against the over-use of chemical inputs.</a:t>
            </a:r>
          </a:p>
          <a:p>
            <a:pPr marL="285750" indent="-285750">
              <a:buFont typeface="Wingdings" panose="05000000000000000000" pitchFamily="2" charset="2"/>
              <a:buChar char="Ø"/>
            </a:pPr>
            <a:endParaRPr lang="en-IN" sz="1600" dirty="0"/>
          </a:p>
        </p:txBody>
      </p:sp>
    </p:spTree>
    <p:extLst>
      <p:ext uri="{BB962C8B-B14F-4D97-AF65-F5344CB8AC3E}">
        <p14:creationId xmlns:p14="http://schemas.microsoft.com/office/powerpoint/2010/main" val="930423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106790" y="107038"/>
            <a:ext cx="2627080" cy="666078"/>
          </a:xfrm>
        </p:spPr>
        <p:txBody>
          <a:bodyPr>
            <a:normAutofit fontScale="90000"/>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extBox 5">
            <a:extLst>
              <a:ext uri="{FF2B5EF4-FFF2-40B4-BE49-F238E27FC236}">
                <a16:creationId xmlns:a16="http://schemas.microsoft.com/office/drawing/2014/main" id="{DCEC39D0-A55E-B5EE-4BB5-52DA5D8640C2}"/>
              </a:ext>
            </a:extLst>
          </p:cNvPr>
          <p:cNvSpPr txBox="1"/>
          <p:nvPr/>
        </p:nvSpPr>
        <p:spPr>
          <a:xfrm>
            <a:off x="2733870" y="255411"/>
            <a:ext cx="9223359" cy="369332"/>
          </a:xfrm>
          <a:prstGeom prst="rect">
            <a:avLst/>
          </a:prstGeom>
          <a:noFill/>
        </p:spPr>
        <p:txBody>
          <a:bodyPr wrap="none" rtlCol="0">
            <a:spAutoFit/>
          </a:bodyPr>
          <a:lstStyle/>
          <a:p>
            <a:pPr marL="285750" indent="-285750">
              <a:buFont typeface="Wingdings" panose="05000000000000000000" pitchFamily="2" charset="2"/>
              <a:buChar char="Ø"/>
            </a:pPr>
            <a:r>
              <a:rPr lang="en-IN" b="1" u="sng" dirty="0"/>
              <a:t>GRAPH 9: IMPACT OF RAINFALL ON CROP YIELD ACROSS SEASONS (SCATTER PLOT)</a:t>
            </a:r>
          </a:p>
        </p:txBody>
      </p:sp>
      <p:pic>
        <p:nvPicPr>
          <p:cNvPr id="11" name="Picture 10">
            <a:extLst>
              <a:ext uri="{FF2B5EF4-FFF2-40B4-BE49-F238E27FC236}">
                <a16:creationId xmlns:a16="http://schemas.microsoft.com/office/drawing/2014/main" id="{3E529015-182A-F6E0-EF6F-35FA82F2FC2C}"/>
              </a:ext>
            </a:extLst>
          </p:cNvPr>
          <p:cNvPicPr>
            <a:picLocks noChangeAspect="1"/>
          </p:cNvPicPr>
          <p:nvPr/>
        </p:nvPicPr>
        <p:blipFill>
          <a:blip r:embed="rId3"/>
          <a:stretch>
            <a:fillRect/>
          </a:stretch>
        </p:blipFill>
        <p:spPr>
          <a:xfrm>
            <a:off x="106790" y="1249158"/>
            <a:ext cx="5485762" cy="1838996"/>
          </a:xfrm>
          <a:prstGeom prst="rect">
            <a:avLst/>
          </a:prstGeom>
        </p:spPr>
      </p:pic>
      <p:pic>
        <p:nvPicPr>
          <p:cNvPr id="12" name="Picture 11">
            <a:extLst>
              <a:ext uri="{FF2B5EF4-FFF2-40B4-BE49-F238E27FC236}">
                <a16:creationId xmlns:a16="http://schemas.microsoft.com/office/drawing/2014/main" id="{789F05A0-D3E5-191D-D570-64526F84800F}"/>
              </a:ext>
            </a:extLst>
          </p:cNvPr>
          <p:cNvPicPr>
            <a:picLocks noChangeAspect="1"/>
          </p:cNvPicPr>
          <p:nvPr/>
        </p:nvPicPr>
        <p:blipFill>
          <a:blip r:embed="rId4"/>
          <a:stretch>
            <a:fillRect/>
          </a:stretch>
        </p:blipFill>
        <p:spPr>
          <a:xfrm>
            <a:off x="6096000" y="849084"/>
            <a:ext cx="5869661" cy="4478139"/>
          </a:xfrm>
          <a:prstGeom prst="rect">
            <a:avLst/>
          </a:prstGeom>
        </p:spPr>
      </p:pic>
      <p:sp>
        <p:nvSpPr>
          <p:cNvPr id="13" name="TextBox 12">
            <a:extLst>
              <a:ext uri="{FF2B5EF4-FFF2-40B4-BE49-F238E27FC236}">
                <a16:creationId xmlns:a16="http://schemas.microsoft.com/office/drawing/2014/main" id="{C46E84D3-04F3-7D3F-41FF-AC4594078FCF}"/>
              </a:ext>
            </a:extLst>
          </p:cNvPr>
          <p:cNvSpPr txBox="1"/>
          <p:nvPr/>
        </p:nvSpPr>
        <p:spPr>
          <a:xfrm>
            <a:off x="5606784" y="1983990"/>
            <a:ext cx="410690" cy="369332"/>
          </a:xfrm>
          <a:prstGeom prst="rect">
            <a:avLst/>
          </a:prstGeom>
          <a:noFill/>
        </p:spPr>
        <p:txBody>
          <a:bodyPr wrap="none" rtlCol="0">
            <a:spAutoFit/>
          </a:bodyPr>
          <a:lstStyle/>
          <a:p>
            <a:r>
              <a:rPr lang="en-IN" dirty="0">
                <a:sym typeface="Wingdings" panose="05000000000000000000" pitchFamily="2" charset="2"/>
              </a:rPr>
              <a:t></a:t>
            </a:r>
            <a:endParaRPr lang="en-IN" dirty="0"/>
          </a:p>
        </p:txBody>
      </p:sp>
      <p:sp>
        <p:nvSpPr>
          <p:cNvPr id="14" name="TextBox 13">
            <a:extLst>
              <a:ext uri="{FF2B5EF4-FFF2-40B4-BE49-F238E27FC236}">
                <a16:creationId xmlns:a16="http://schemas.microsoft.com/office/drawing/2014/main" id="{C702D6A7-BBBC-A38F-BE1E-F16F2A8771EE}"/>
              </a:ext>
            </a:extLst>
          </p:cNvPr>
          <p:cNvSpPr txBox="1"/>
          <p:nvPr/>
        </p:nvSpPr>
        <p:spPr>
          <a:xfrm>
            <a:off x="320981" y="3311286"/>
            <a:ext cx="5370691" cy="3046988"/>
          </a:xfrm>
          <a:prstGeom prst="rect">
            <a:avLst/>
          </a:prstGeom>
          <a:noFill/>
        </p:spPr>
        <p:txBody>
          <a:bodyPr wrap="square" rtlCol="0">
            <a:spAutoFit/>
          </a:bodyPr>
          <a:lstStyle/>
          <a:p>
            <a:pPr marL="285750" lvl="0" indent="-285750">
              <a:buFont typeface="Wingdings" panose="05000000000000000000" pitchFamily="2" charset="2"/>
              <a:buChar char="Ø"/>
            </a:pPr>
            <a:r>
              <a:rPr lang="en-IN" sz="1600" b="1" dirty="0"/>
              <a:t>Detailed Description:</a:t>
            </a:r>
            <a:r>
              <a:rPr lang="en-IN" sz="1600" dirty="0"/>
              <a:t> Every dot represents a single farm. The X-axis is how much rain they got, the Y-axis is their crop yield, and the dots are color-coded by the season (Kharif, Rabi, Zaid).</a:t>
            </a:r>
            <a:br>
              <a:rPr lang="en-IN" sz="1600" dirty="0"/>
            </a:br>
            <a:endParaRPr lang="en-IN" sz="1600" dirty="0"/>
          </a:p>
          <a:p>
            <a:pPr marL="285750" lvl="0" indent="-285750">
              <a:buFont typeface="Wingdings" panose="05000000000000000000" pitchFamily="2" charset="2"/>
              <a:buChar char="Ø"/>
            </a:pPr>
            <a:r>
              <a:rPr lang="en-IN" sz="1600" b="1" dirty="0"/>
              <a:t>Expanded Insight:</a:t>
            </a:r>
            <a:r>
              <a:rPr lang="en-IN" sz="1600" dirty="0"/>
              <a:t> It visually groups the seasons into distinct clusters. You can literally see the Kharif farms clustered at the top right (high rain, high yield) and the Zaid farms clustered at the bottom left (low rain, low yield). It is the most undeniable proof that natural weather dictates farming success.</a:t>
            </a:r>
          </a:p>
          <a:p>
            <a:pPr marL="285750" indent="-285750">
              <a:buFont typeface="Wingdings" panose="05000000000000000000" pitchFamily="2" charset="2"/>
              <a:buChar char="Ø"/>
            </a:pPr>
            <a:endParaRPr lang="en-IN" sz="1600" dirty="0"/>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1" y="0"/>
            <a:ext cx="2677886"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extBox 5">
            <a:extLst>
              <a:ext uri="{FF2B5EF4-FFF2-40B4-BE49-F238E27FC236}">
                <a16:creationId xmlns:a16="http://schemas.microsoft.com/office/drawing/2014/main" id="{C81453A0-B248-3A1A-2B2F-0D8A9238FE6A}"/>
              </a:ext>
            </a:extLst>
          </p:cNvPr>
          <p:cNvSpPr txBox="1"/>
          <p:nvPr/>
        </p:nvSpPr>
        <p:spPr>
          <a:xfrm>
            <a:off x="3265714" y="230832"/>
            <a:ext cx="7817653" cy="369332"/>
          </a:xfrm>
          <a:prstGeom prst="rect">
            <a:avLst/>
          </a:prstGeom>
          <a:noFill/>
        </p:spPr>
        <p:txBody>
          <a:bodyPr wrap="none" rtlCol="0">
            <a:spAutoFit/>
          </a:bodyPr>
          <a:lstStyle/>
          <a:p>
            <a:pPr marL="285750" indent="-285750">
              <a:buFont typeface="Wingdings" panose="05000000000000000000" pitchFamily="2" charset="2"/>
              <a:buChar char="Ø"/>
            </a:pPr>
            <a:r>
              <a:rPr lang="en-IN" b="1" u="sng" dirty="0"/>
              <a:t>GRAPH 10: PROPORTION OF IRRIGATION METHODS USED (PIE CHART)</a:t>
            </a:r>
          </a:p>
        </p:txBody>
      </p:sp>
      <p:pic>
        <p:nvPicPr>
          <p:cNvPr id="11" name="Picture 10">
            <a:extLst>
              <a:ext uri="{FF2B5EF4-FFF2-40B4-BE49-F238E27FC236}">
                <a16:creationId xmlns:a16="http://schemas.microsoft.com/office/drawing/2014/main" id="{EE20E042-925E-95FC-A5F8-8C7639D22596}"/>
              </a:ext>
            </a:extLst>
          </p:cNvPr>
          <p:cNvPicPr>
            <a:picLocks noChangeAspect="1"/>
          </p:cNvPicPr>
          <p:nvPr/>
        </p:nvPicPr>
        <p:blipFill>
          <a:blip r:embed="rId3"/>
          <a:stretch>
            <a:fillRect/>
          </a:stretch>
        </p:blipFill>
        <p:spPr>
          <a:xfrm>
            <a:off x="230040" y="1098089"/>
            <a:ext cx="5787434" cy="2134570"/>
          </a:xfrm>
          <a:prstGeom prst="rect">
            <a:avLst/>
          </a:prstGeom>
        </p:spPr>
      </p:pic>
      <p:pic>
        <p:nvPicPr>
          <p:cNvPr id="12" name="Picture 11">
            <a:extLst>
              <a:ext uri="{FF2B5EF4-FFF2-40B4-BE49-F238E27FC236}">
                <a16:creationId xmlns:a16="http://schemas.microsoft.com/office/drawing/2014/main" id="{9E47DBDA-C8A5-0006-63D5-8383732D58C6}"/>
              </a:ext>
            </a:extLst>
          </p:cNvPr>
          <p:cNvPicPr>
            <a:picLocks noChangeAspect="1"/>
          </p:cNvPicPr>
          <p:nvPr/>
        </p:nvPicPr>
        <p:blipFill>
          <a:blip r:embed="rId4"/>
          <a:stretch>
            <a:fillRect/>
          </a:stretch>
        </p:blipFill>
        <p:spPr>
          <a:xfrm>
            <a:off x="6615421" y="942391"/>
            <a:ext cx="5094515" cy="5262466"/>
          </a:xfrm>
          <a:prstGeom prst="rect">
            <a:avLst/>
          </a:prstGeom>
        </p:spPr>
      </p:pic>
      <p:sp>
        <p:nvSpPr>
          <p:cNvPr id="13" name="TextBox 12">
            <a:extLst>
              <a:ext uri="{FF2B5EF4-FFF2-40B4-BE49-F238E27FC236}">
                <a16:creationId xmlns:a16="http://schemas.microsoft.com/office/drawing/2014/main" id="{52D6A786-88E7-D17C-2E29-F08E2486D942}"/>
              </a:ext>
            </a:extLst>
          </p:cNvPr>
          <p:cNvSpPr txBox="1"/>
          <p:nvPr/>
        </p:nvSpPr>
        <p:spPr>
          <a:xfrm>
            <a:off x="6017474" y="1858444"/>
            <a:ext cx="410690" cy="369332"/>
          </a:xfrm>
          <a:prstGeom prst="rect">
            <a:avLst/>
          </a:prstGeom>
          <a:noFill/>
        </p:spPr>
        <p:txBody>
          <a:bodyPr wrap="none" rtlCol="0">
            <a:spAutoFit/>
          </a:bodyPr>
          <a:lstStyle/>
          <a:p>
            <a:r>
              <a:rPr lang="en-IN" dirty="0">
                <a:sym typeface="Wingdings" panose="05000000000000000000" pitchFamily="2" charset="2"/>
              </a:rPr>
              <a:t></a:t>
            </a:r>
            <a:endParaRPr lang="en-IN" dirty="0"/>
          </a:p>
        </p:txBody>
      </p:sp>
      <p:sp>
        <p:nvSpPr>
          <p:cNvPr id="14" name="TextBox 13">
            <a:extLst>
              <a:ext uri="{FF2B5EF4-FFF2-40B4-BE49-F238E27FC236}">
                <a16:creationId xmlns:a16="http://schemas.microsoft.com/office/drawing/2014/main" id="{6725BA2F-5AF4-BDE5-C806-00BB3005CF0A}"/>
              </a:ext>
            </a:extLst>
          </p:cNvPr>
          <p:cNvSpPr txBox="1"/>
          <p:nvPr/>
        </p:nvSpPr>
        <p:spPr>
          <a:xfrm>
            <a:off x="275511" y="3559628"/>
            <a:ext cx="5613288" cy="2585323"/>
          </a:xfrm>
          <a:prstGeom prst="rect">
            <a:avLst/>
          </a:prstGeom>
          <a:noFill/>
        </p:spPr>
        <p:txBody>
          <a:bodyPr wrap="square" rtlCol="0">
            <a:spAutoFit/>
          </a:bodyPr>
          <a:lstStyle/>
          <a:p>
            <a:pPr marL="285750" lvl="0" indent="-285750">
              <a:buFont typeface="Wingdings" panose="05000000000000000000" pitchFamily="2" charset="2"/>
              <a:buChar char="Ø"/>
            </a:pPr>
            <a:r>
              <a:rPr lang="en-IN" b="1" dirty="0"/>
              <a:t>Detailed Description:</a:t>
            </a:r>
            <a:r>
              <a:rPr lang="en-IN" dirty="0"/>
              <a:t> A simple percentage breakdown of how farmers water their crops (Flood, Drip, Sprinkler, Tube Well).</a:t>
            </a:r>
            <a:br>
              <a:rPr lang="en-IN" dirty="0"/>
            </a:br>
            <a:endParaRPr lang="en-IN" dirty="0"/>
          </a:p>
          <a:p>
            <a:pPr marL="285750" lvl="0" indent="-285750">
              <a:buFont typeface="Wingdings" panose="05000000000000000000" pitchFamily="2" charset="2"/>
              <a:buChar char="Ø"/>
            </a:pPr>
            <a:r>
              <a:rPr lang="en-IN" b="1" dirty="0"/>
              <a:t>Expanded Insight:</a:t>
            </a:r>
            <a:r>
              <a:rPr lang="en-IN" dirty="0"/>
              <a:t> It reveals a technological gap in the industry. A massive portion of farmers still rely on traditional "Flood" irrigation. This sets up the problem that the next graph will solve.</a:t>
            </a:r>
          </a:p>
          <a:p>
            <a:pPr marL="285750" indent="-285750">
              <a:buFont typeface="Wingdings" panose="05000000000000000000" pitchFamily="2" charset="2"/>
              <a:buChar char="Ø"/>
            </a:pPr>
            <a:endParaRPr lang="en-IN" dirty="0"/>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0" y="0"/>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extBox 8">
            <a:extLst>
              <a:ext uri="{FF2B5EF4-FFF2-40B4-BE49-F238E27FC236}">
                <a16:creationId xmlns:a16="http://schemas.microsoft.com/office/drawing/2014/main" id="{7F0DDCD7-F4CD-6EBE-3070-AFD6B050FA0B}"/>
              </a:ext>
            </a:extLst>
          </p:cNvPr>
          <p:cNvSpPr txBox="1"/>
          <p:nvPr/>
        </p:nvSpPr>
        <p:spPr>
          <a:xfrm>
            <a:off x="2981643" y="230832"/>
            <a:ext cx="8626152" cy="369332"/>
          </a:xfrm>
          <a:prstGeom prst="rect">
            <a:avLst/>
          </a:prstGeom>
          <a:noFill/>
        </p:spPr>
        <p:txBody>
          <a:bodyPr wrap="square">
            <a:spAutoFit/>
          </a:bodyPr>
          <a:lstStyle/>
          <a:p>
            <a:pPr marL="285750" indent="-285750">
              <a:buFont typeface="Wingdings" panose="05000000000000000000" pitchFamily="2" charset="2"/>
              <a:buChar char="Ø"/>
            </a:pPr>
            <a:r>
              <a:rPr lang="en-IN" b="1" u="sng" dirty="0"/>
              <a:t>GRAPH 11: WATER USAGE COMPARISON BY IRRIGATION METHOD (BOXPLOT)</a:t>
            </a:r>
          </a:p>
        </p:txBody>
      </p:sp>
      <p:pic>
        <p:nvPicPr>
          <p:cNvPr id="12" name="Picture 11">
            <a:extLst>
              <a:ext uri="{FF2B5EF4-FFF2-40B4-BE49-F238E27FC236}">
                <a16:creationId xmlns:a16="http://schemas.microsoft.com/office/drawing/2014/main" id="{EC39B3C8-6961-7E22-3628-EF9EA47FC67A}"/>
              </a:ext>
            </a:extLst>
          </p:cNvPr>
          <p:cNvPicPr>
            <a:picLocks noChangeAspect="1"/>
          </p:cNvPicPr>
          <p:nvPr/>
        </p:nvPicPr>
        <p:blipFill>
          <a:blip r:embed="rId3"/>
          <a:stretch>
            <a:fillRect/>
          </a:stretch>
        </p:blipFill>
        <p:spPr>
          <a:xfrm>
            <a:off x="277592" y="1167983"/>
            <a:ext cx="5082980" cy="1425063"/>
          </a:xfrm>
          <a:prstGeom prst="rect">
            <a:avLst/>
          </a:prstGeom>
        </p:spPr>
      </p:pic>
      <p:pic>
        <p:nvPicPr>
          <p:cNvPr id="13" name="Picture 12">
            <a:extLst>
              <a:ext uri="{FF2B5EF4-FFF2-40B4-BE49-F238E27FC236}">
                <a16:creationId xmlns:a16="http://schemas.microsoft.com/office/drawing/2014/main" id="{88249028-AED4-2377-FA10-3B9B6F5CA017}"/>
              </a:ext>
            </a:extLst>
          </p:cNvPr>
          <p:cNvPicPr>
            <a:picLocks noChangeAspect="1"/>
          </p:cNvPicPr>
          <p:nvPr/>
        </p:nvPicPr>
        <p:blipFill>
          <a:blip r:embed="rId4"/>
          <a:stretch>
            <a:fillRect/>
          </a:stretch>
        </p:blipFill>
        <p:spPr>
          <a:xfrm>
            <a:off x="5943600" y="947341"/>
            <a:ext cx="5927418" cy="4007214"/>
          </a:xfrm>
          <a:prstGeom prst="rect">
            <a:avLst/>
          </a:prstGeom>
        </p:spPr>
      </p:pic>
      <p:sp>
        <p:nvSpPr>
          <p:cNvPr id="14" name="TextBox 13">
            <a:extLst>
              <a:ext uri="{FF2B5EF4-FFF2-40B4-BE49-F238E27FC236}">
                <a16:creationId xmlns:a16="http://schemas.microsoft.com/office/drawing/2014/main" id="{2096CCB7-7094-D9B8-ECC1-D08918EA3B97}"/>
              </a:ext>
            </a:extLst>
          </p:cNvPr>
          <p:cNvSpPr txBox="1"/>
          <p:nvPr/>
        </p:nvSpPr>
        <p:spPr>
          <a:xfrm>
            <a:off x="5403962" y="1660172"/>
            <a:ext cx="410690" cy="369332"/>
          </a:xfrm>
          <a:prstGeom prst="rect">
            <a:avLst/>
          </a:prstGeom>
          <a:noFill/>
        </p:spPr>
        <p:txBody>
          <a:bodyPr wrap="none" rtlCol="0">
            <a:spAutoFit/>
          </a:bodyPr>
          <a:lstStyle/>
          <a:p>
            <a:r>
              <a:rPr lang="en-IN" dirty="0">
                <a:sym typeface="Wingdings" panose="05000000000000000000" pitchFamily="2" charset="2"/>
              </a:rPr>
              <a:t></a:t>
            </a:r>
            <a:endParaRPr lang="en-IN" dirty="0"/>
          </a:p>
        </p:txBody>
      </p:sp>
      <p:sp>
        <p:nvSpPr>
          <p:cNvPr id="15" name="TextBox 14">
            <a:extLst>
              <a:ext uri="{FF2B5EF4-FFF2-40B4-BE49-F238E27FC236}">
                <a16:creationId xmlns:a16="http://schemas.microsoft.com/office/drawing/2014/main" id="{000A7CFE-231F-FEFC-2360-95E82F4FC10C}"/>
              </a:ext>
            </a:extLst>
          </p:cNvPr>
          <p:cNvSpPr txBox="1"/>
          <p:nvPr/>
        </p:nvSpPr>
        <p:spPr>
          <a:xfrm>
            <a:off x="277591" y="3079022"/>
            <a:ext cx="5442073" cy="2800767"/>
          </a:xfrm>
          <a:prstGeom prst="rect">
            <a:avLst/>
          </a:prstGeom>
          <a:noFill/>
        </p:spPr>
        <p:txBody>
          <a:bodyPr wrap="square" rtlCol="0">
            <a:spAutoFit/>
          </a:bodyPr>
          <a:lstStyle/>
          <a:p>
            <a:pPr marL="285750" lvl="0" indent="-285750">
              <a:buFont typeface="Wingdings" panose="05000000000000000000" pitchFamily="2" charset="2"/>
              <a:buChar char="Ø"/>
            </a:pPr>
            <a:r>
              <a:rPr lang="en-IN" sz="1600" b="1" dirty="0"/>
              <a:t>Detailed Description:</a:t>
            </a:r>
            <a:r>
              <a:rPr lang="en-IN" sz="1600" dirty="0"/>
              <a:t> This visual compares the actual volume of water consumed (Y-axis) by each specific irrigation technique (X-axis).</a:t>
            </a:r>
            <a:br>
              <a:rPr lang="en-IN" sz="1600" dirty="0"/>
            </a:br>
            <a:endParaRPr lang="en-IN" sz="1600" dirty="0"/>
          </a:p>
          <a:p>
            <a:pPr marL="285750" lvl="0" indent="-285750">
              <a:buFont typeface="Wingdings" panose="05000000000000000000" pitchFamily="2" charset="2"/>
              <a:buChar char="Ø"/>
            </a:pPr>
            <a:r>
              <a:rPr lang="en-IN" sz="1600" b="1" dirty="0"/>
              <a:t>Expanded Insight:</a:t>
            </a:r>
            <a:r>
              <a:rPr lang="en-IN" sz="1600" dirty="0"/>
              <a:t> It clearly demonstrates that Flood irrigation is incredibly wasteful, consuming drastically more cubic meters of water than Drip or Sprinkler systems. If policymakers want to save water during the dry Zaid season, they must subsidize a transition to Drip irrigation.</a:t>
            </a:r>
          </a:p>
          <a:p>
            <a:pPr marL="285750" indent="-285750">
              <a:buFont typeface="Wingdings" panose="05000000000000000000" pitchFamily="2" charset="2"/>
              <a:buChar char="Ø"/>
            </a:pPr>
            <a:endParaRPr lang="en-IN" sz="1600" dirty="0"/>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97459" y="0"/>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extBox 8">
            <a:extLst>
              <a:ext uri="{FF2B5EF4-FFF2-40B4-BE49-F238E27FC236}">
                <a16:creationId xmlns:a16="http://schemas.microsoft.com/office/drawing/2014/main" id="{8979464D-C03E-EECB-BE5E-62CF626F1922}"/>
              </a:ext>
            </a:extLst>
          </p:cNvPr>
          <p:cNvSpPr txBox="1"/>
          <p:nvPr/>
        </p:nvSpPr>
        <p:spPr>
          <a:xfrm>
            <a:off x="3545633" y="230832"/>
            <a:ext cx="6922023" cy="369332"/>
          </a:xfrm>
          <a:prstGeom prst="rect">
            <a:avLst/>
          </a:prstGeom>
          <a:noFill/>
        </p:spPr>
        <p:txBody>
          <a:bodyPr wrap="none" rtlCol="0">
            <a:spAutoFit/>
          </a:bodyPr>
          <a:lstStyle/>
          <a:p>
            <a:pPr marL="285750" indent="-285750">
              <a:buFont typeface="Wingdings" panose="05000000000000000000" pitchFamily="2" charset="2"/>
              <a:buChar char="Ø"/>
            </a:pPr>
            <a:r>
              <a:rPr lang="en-IN" b="1" u="sng" dirty="0"/>
              <a:t>Graph 12: Average Financial Profit by Crop Type (Bar Chart)</a:t>
            </a:r>
          </a:p>
        </p:txBody>
      </p:sp>
      <p:pic>
        <p:nvPicPr>
          <p:cNvPr id="12" name="Picture 11">
            <a:extLst>
              <a:ext uri="{FF2B5EF4-FFF2-40B4-BE49-F238E27FC236}">
                <a16:creationId xmlns:a16="http://schemas.microsoft.com/office/drawing/2014/main" id="{6AB0C84D-ABD2-26CE-4B3E-7F5D5AFD1EB8}"/>
              </a:ext>
            </a:extLst>
          </p:cNvPr>
          <p:cNvPicPr>
            <a:picLocks noChangeAspect="1"/>
          </p:cNvPicPr>
          <p:nvPr/>
        </p:nvPicPr>
        <p:blipFill>
          <a:blip r:embed="rId3"/>
          <a:stretch>
            <a:fillRect/>
          </a:stretch>
        </p:blipFill>
        <p:spPr>
          <a:xfrm>
            <a:off x="251040" y="1275371"/>
            <a:ext cx="5645905" cy="1803731"/>
          </a:xfrm>
          <a:prstGeom prst="rect">
            <a:avLst/>
          </a:prstGeom>
        </p:spPr>
      </p:pic>
      <p:pic>
        <p:nvPicPr>
          <p:cNvPr id="13" name="Picture 12">
            <a:extLst>
              <a:ext uri="{FF2B5EF4-FFF2-40B4-BE49-F238E27FC236}">
                <a16:creationId xmlns:a16="http://schemas.microsoft.com/office/drawing/2014/main" id="{B27B0710-8388-56F2-58A4-68D6F1C84181}"/>
              </a:ext>
            </a:extLst>
          </p:cNvPr>
          <p:cNvPicPr>
            <a:picLocks noChangeAspect="1"/>
          </p:cNvPicPr>
          <p:nvPr/>
        </p:nvPicPr>
        <p:blipFill>
          <a:blip r:embed="rId4"/>
          <a:stretch>
            <a:fillRect/>
          </a:stretch>
        </p:blipFill>
        <p:spPr>
          <a:xfrm>
            <a:off x="6295055" y="830997"/>
            <a:ext cx="5645905" cy="4422138"/>
          </a:xfrm>
          <a:prstGeom prst="rect">
            <a:avLst/>
          </a:prstGeom>
        </p:spPr>
      </p:pic>
      <p:sp>
        <p:nvSpPr>
          <p:cNvPr id="14" name="TextBox 13">
            <a:extLst>
              <a:ext uri="{FF2B5EF4-FFF2-40B4-BE49-F238E27FC236}">
                <a16:creationId xmlns:a16="http://schemas.microsoft.com/office/drawing/2014/main" id="{8FDB11D1-637F-0983-8B44-7BB8604E922A}"/>
              </a:ext>
            </a:extLst>
          </p:cNvPr>
          <p:cNvSpPr txBox="1"/>
          <p:nvPr/>
        </p:nvSpPr>
        <p:spPr>
          <a:xfrm>
            <a:off x="5884365" y="1992570"/>
            <a:ext cx="410690" cy="369332"/>
          </a:xfrm>
          <a:prstGeom prst="rect">
            <a:avLst/>
          </a:prstGeom>
          <a:noFill/>
        </p:spPr>
        <p:txBody>
          <a:bodyPr wrap="none" rtlCol="0">
            <a:spAutoFit/>
          </a:bodyPr>
          <a:lstStyle/>
          <a:p>
            <a:r>
              <a:rPr lang="en-IN" dirty="0">
                <a:sym typeface="Wingdings" panose="05000000000000000000" pitchFamily="2" charset="2"/>
              </a:rPr>
              <a:t></a:t>
            </a:r>
            <a:endParaRPr lang="en-IN" dirty="0"/>
          </a:p>
        </p:txBody>
      </p:sp>
      <p:sp>
        <p:nvSpPr>
          <p:cNvPr id="15" name="TextBox 14">
            <a:extLst>
              <a:ext uri="{FF2B5EF4-FFF2-40B4-BE49-F238E27FC236}">
                <a16:creationId xmlns:a16="http://schemas.microsoft.com/office/drawing/2014/main" id="{23279C4B-793D-FF24-0E09-FE609811576C}"/>
              </a:ext>
            </a:extLst>
          </p:cNvPr>
          <p:cNvSpPr txBox="1"/>
          <p:nvPr/>
        </p:nvSpPr>
        <p:spPr>
          <a:xfrm>
            <a:off x="251040" y="3375127"/>
            <a:ext cx="5538162" cy="2800767"/>
          </a:xfrm>
          <a:prstGeom prst="rect">
            <a:avLst/>
          </a:prstGeom>
          <a:noFill/>
        </p:spPr>
        <p:txBody>
          <a:bodyPr wrap="square" rtlCol="0">
            <a:spAutoFit/>
          </a:bodyPr>
          <a:lstStyle/>
          <a:p>
            <a:pPr marL="285750" lvl="0" indent="-285750">
              <a:buFont typeface="Wingdings" panose="05000000000000000000" pitchFamily="2" charset="2"/>
              <a:buChar char="Ø"/>
            </a:pPr>
            <a:r>
              <a:rPr lang="en-IN" sz="1600" b="1" dirty="0"/>
              <a:t>Detailed Description:</a:t>
            </a:r>
            <a:r>
              <a:rPr lang="en-IN" sz="1600" dirty="0"/>
              <a:t> This chart shifts focus from the seasons to the crops themselves, ranking the 8 crops by their average financial profit.</a:t>
            </a:r>
            <a:br>
              <a:rPr lang="en-IN" sz="1600" dirty="0"/>
            </a:br>
            <a:endParaRPr lang="en-IN" sz="1600" dirty="0"/>
          </a:p>
          <a:p>
            <a:pPr marL="285750" lvl="0" indent="-285750">
              <a:buFont typeface="Wingdings" panose="05000000000000000000" pitchFamily="2" charset="2"/>
              <a:buChar char="Ø"/>
            </a:pPr>
            <a:r>
              <a:rPr lang="en-IN" sz="1600" b="1" dirty="0"/>
              <a:t>Expanded Insight:</a:t>
            </a:r>
            <a:r>
              <a:rPr lang="en-IN" sz="1600" dirty="0"/>
              <a:t> It identifies the "cash crops" of the dataset. Crops like Sugarcane and Wheat show strong, reliable profit margins, whereas certain pulses or summer crops struggle. This allows agronomists to give specific advice to farmers on what to plant for financial security.</a:t>
            </a:r>
          </a:p>
          <a:p>
            <a:pPr marL="285750" indent="-285750">
              <a:buFont typeface="Wingdings" panose="05000000000000000000" pitchFamily="2" charset="2"/>
              <a:buChar char="Ø"/>
            </a:pPr>
            <a:endParaRPr lang="en-IN" sz="1600" dirty="0"/>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B8470-CF75-73F0-D4EC-54FB9ABD6C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791995A-3B8C-7307-737F-90DDB8B8907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8E93909-5219-73DD-19C1-ADD393830220}"/>
              </a:ext>
            </a:extLst>
          </p:cNvPr>
          <p:cNvSpPr>
            <a:spLocks noGrp="1"/>
          </p:cNvSpPr>
          <p:nvPr>
            <p:ph type="title"/>
          </p:nvPr>
        </p:nvSpPr>
        <p:spPr>
          <a:xfrm>
            <a:off x="97459" y="0"/>
            <a:ext cx="2981643" cy="830997"/>
          </a:xfrm>
        </p:spPr>
        <p:txBody>
          <a:bodyPr>
            <a:normAutofit/>
          </a:bodyPr>
          <a:lstStyle/>
          <a:p>
            <a:r>
              <a:rPr lang="en-GB" dirty="0"/>
              <a:t>RESULTS </a:t>
            </a:r>
            <a:endParaRPr lang="en-IN" dirty="0"/>
          </a:p>
        </p:txBody>
      </p:sp>
      <p:sp>
        <p:nvSpPr>
          <p:cNvPr id="2" name="TextBox 1">
            <a:extLst>
              <a:ext uri="{FF2B5EF4-FFF2-40B4-BE49-F238E27FC236}">
                <a16:creationId xmlns:a16="http://schemas.microsoft.com/office/drawing/2014/main" id="{F1D395D3-9A90-D8CE-2EF8-58865366E4C9}"/>
              </a:ext>
            </a:extLst>
          </p:cNvPr>
          <p:cNvSpPr txBox="1"/>
          <p:nvPr/>
        </p:nvSpPr>
        <p:spPr>
          <a:xfrm>
            <a:off x="3209731" y="230832"/>
            <a:ext cx="8806513" cy="369332"/>
          </a:xfrm>
          <a:prstGeom prst="rect">
            <a:avLst/>
          </a:prstGeom>
          <a:noFill/>
        </p:spPr>
        <p:txBody>
          <a:bodyPr wrap="none" rtlCol="0">
            <a:spAutoFit/>
          </a:bodyPr>
          <a:lstStyle/>
          <a:p>
            <a:pPr marL="285750" indent="-285750">
              <a:buFont typeface="Wingdings" panose="05000000000000000000" pitchFamily="2" charset="2"/>
              <a:buChar char="Ø"/>
            </a:pPr>
            <a:r>
              <a:rPr lang="en-IN" b="1" u="sng" dirty="0"/>
              <a:t>GRAPH 13: DETAILED DISTRIBUTION OF CROP YIELD BY SEASON (VIOLIN PLOT)</a:t>
            </a:r>
          </a:p>
        </p:txBody>
      </p:sp>
      <p:pic>
        <p:nvPicPr>
          <p:cNvPr id="6" name="Picture 5">
            <a:extLst>
              <a:ext uri="{FF2B5EF4-FFF2-40B4-BE49-F238E27FC236}">
                <a16:creationId xmlns:a16="http://schemas.microsoft.com/office/drawing/2014/main" id="{42398E3F-947B-F852-F3C1-3123991A3935}"/>
              </a:ext>
            </a:extLst>
          </p:cNvPr>
          <p:cNvPicPr>
            <a:picLocks noChangeAspect="1"/>
          </p:cNvPicPr>
          <p:nvPr/>
        </p:nvPicPr>
        <p:blipFill>
          <a:blip r:embed="rId3"/>
          <a:stretch>
            <a:fillRect/>
          </a:stretch>
        </p:blipFill>
        <p:spPr>
          <a:xfrm>
            <a:off x="215124" y="1160230"/>
            <a:ext cx="5280606" cy="1697840"/>
          </a:xfrm>
          <a:prstGeom prst="rect">
            <a:avLst/>
          </a:prstGeom>
        </p:spPr>
      </p:pic>
      <p:pic>
        <p:nvPicPr>
          <p:cNvPr id="8" name="Picture 7">
            <a:extLst>
              <a:ext uri="{FF2B5EF4-FFF2-40B4-BE49-F238E27FC236}">
                <a16:creationId xmlns:a16="http://schemas.microsoft.com/office/drawing/2014/main" id="{AE3D40E9-4B4C-4F4B-1501-7340B78457AA}"/>
              </a:ext>
            </a:extLst>
          </p:cNvPr>
          <p:cNvPicPr>
            <a:picLocks noChangeAspect="1"/>
          </p:cNvPicPr>
          <p:nvPr/>
        </p:nvPicPr>
        <p:blipFill>
          <a:blip r:embed="rId4"/>
          <a:stretch>
            <a:fillRect/>
          </a:stretch>
        </p:blipFill>
        <p:spPr>
          <a:xfrm>
            <a:off x="5943600" y="830997"/>
            <a:ext cx="5915608" cy="4403476"/>
          </a:xfrm>
          <a:prstGeom prst="rect">
            <a:avLst/>
          </a:prstGeom>
        </p:spPr>
      </p:pic>
      <p:sp>
        <p:nvSpPr>
          <p:cNvPr id="10" name="TextBox 9">
            <a:extLst>
              <a:ext uri="{FF2B5EF4-FFF2-40B4-BE49-F238E27FC236}">
                <a16:creationId xmlns:a16="http://schemas.microsoft.com/office/drawing/2014/main" id="{0B7BDFB3-909E-220D-3998-BD06A2ADBA89}"/>
              </a:ext>
            </a:extLst>
          </p:cNvPr>
          <p:cNvSpPr txBox="1"/>
          <p:nvPr/>
        </p:nvSpPr>
        <p:spPr>
          <a:xfrm>
            <a:off x="215124" y="3275231"/>
            <a:ext cx="5420565" cy="3293209"/>
          </a:xfrm>
          <a:prstGeom prst="rect">
            <a:avLst/>
          </a:prstGeom>
          <a:noFill/>
        </p:spPr>
        <p:txBody>
          <a:bodyPr wrap="square" rtlCol="0">
            <a:spAutoFit/>
          </a:bodyPr>
          <a:lstStyle/>
          <a:p>
            <a:pPr marL="285750" lvl="0" indent="-285750">
              <a:buFont typeface="Wingdings" panose="05000000000000000000" pitchFamily="2" charset="2"/>
              <a:buChar char="Ø"/>
            </a:pPr>
            <a:r>
              <a:rPr lang="en-IN" sz="1600" b="1" dirty="0"/>
              <a:t>Detailed description:</a:t>
            </a:r>
            <a:r>
              <a:rPr lang="en-IN" sz="1600" dirty="0"/>
              <a:t> a violin plot shows the "shape" of the data. Wider sections mean more farms achieved that specific yield, while thinner sections represent outliers.</a:t>
            </a:r>
            <a:br>
              <a:rPr lang="en-IN" sz="1600" dirty="0"/>
            </a:br>
            <a:endParaRPr lang="en-IN" sz="1600" dirty="0"/>
          </a:p>
          <a:p>
            <a:pPr marL="285750" lvl="0" indent="-285750">
              <a:buFont typeface="Wingdings" panose="05000000000000000000" pitchFamily="2" charset="2"/>
              <a:buChar char="Ø"/>
            </a:pPr>
            <a:r>
              <a:rPr lang="en-IN" sz="1600" b="1" dirty="0"/>
              <a:t>Expanded insight:</a:t>
            </a:r>
            <a:r>
              <a:rPr lang="en-IN" sz="1600" dirty="0"/>
              <a:t> it adds nuance to our understanding of yield. While kharif has a high average, the violin is very stretched out—meaning the results are volatile (some farms do amazing, some fail). The rabi season's violin is short and wide, meaning the yield is highly concentrated, predictable, and stable for most farmers.</a:t>
            </a:r>
          </a:p>
          <a:p>
            <a:pPr marL="285750" indent="-285750">
              <a:buFont typeface="Wingdings" panose="05000000000000000000" pitchFamily="2" charset="2"/>
              <a:buChar char="Ø"/>
            </a:pPr>
            <a:endParaRPr lang="en-IN" sz="1600" dirty="0"/>
          </a:p>
        </p:txBody>
      </p:sp>
    </p:spTree>
    <p:extLst>
      <p:ext uri="{BB962C8B-B14F-4D97-AF65-F5344CB8AC3E}">
        <p14:creationId xmlns:p14="http://schemas.microsoft.com/office/powerpoint/2010/main" val="339244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48E04-8B46-582C-ECA4-EFF9916B5BD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2F9B5D5-521E-99E3-C0C5-8E11EC4A7C9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A72CFEF-6296-0938-8523-6669D48429D1}"/>
              </a:ext>
            </a:extLst>
          </p:cNvPr>
          <p:cNvSpPr>
            <a:spLocks noGrp="1"/>
          </p:cNvSpPr>
          <p:nvPr>
            <p:ph type="title"/>
          </p:nvPr>
        </p:nvSpPr>
        <p:spPr>
          <a:xfrm>
            <a:off x="97459" y="0"/>
            <a:ext cx="2981643" cy="830997"/>
          </a:xfrm>
        </p:spPr>
        <p:txBody>
          <a:bodyPr>
            <a:normAutofit/>
          </a:bodyPr>
          <a:lstStyle/>
          <a:p>
            <a:r>
              <a:rPr lang="en-GB" dirty="0"/>
              <a:t>RESULTS </a:t>
            </a:r>
            <a:endParaRPr lang="en-IN" dirty="0"/>
          </a:p>
        </p:txBody>
      </p:sp>
      <p:pic>
        <p:nvPicPr>
          <p:cNvPr id="3" name="Picture 2">
            <a:extLst>
              <a:ext uri="{FF2B5EF4-FFF2-40B4-BE49-F238E27FC236}">
                <a16:creationId xmlns:a16="http://schemas.microsoft.com/office/drawing/2014/main" id="{D95B85C5-89A5-3042-18CA-C95F8B78D314}"/>
              </a:ext>
            </a:extLst>
          </p:cNvPr>
          <p:cNvPicPr>
            <a:picLocks noChangeAspect="1"/>
          </p:cNvPicPr>
          <p:nvPr/>
        </p:nvPicPr>
        <p:blipFill>
          <a:blip r:embed="rId3"/>
          <a:stretch>
            <a:fillRect/>
          </a:stretch>
        </p:blipFill>
        <p:spPr>
          <a:xfrm>
            <a:off x="169033" y="1044366"/>
            <a:ext cx="4694784" cy="1904108"/>
          </a:xfrm>
          <a:prstGeom prst="rect">
            <a:avLst/>
          </a:prstGeom>
        </p:spPr>
      </p:pic>
      <p:pic>
        <p:nvPicPr>
          <p:cNvPr id="6" name="Picture 5">
            <a:extLst>
              <a:ext uri="{FF2B5EF4-FFF2-40B4-BE49-F238E27FC236}">
                <a16:creationId xmlns:a16="http://schemas.microsoft.com/office/drawing/2014/main" id="{A3503A2E-8F11-A8F3-AB75-EE9D84D05145}"/>
              </a:ext>
            </a:extLst>
          </p:cNvPr>
          <p:cNvPicPr>
            <a:picLocks noChangeAspect="1"/>
          </p:cNvPicPr>
          <p:nvPr/>
        </p:nvPicPr>
        <p:blipFill>
          <a:blip r:embed="rId4"/>
          <a:stretch>
            <a:fillRect/>
          </a:stretch>
        </p:blipFill>
        <p:spPr>
          <a:xfrm>
            <a:off x="5290457" y="830997"/>
            <a:ext cx="6732511" cy="4002260"/>
          </a:xfrm>
          <a:prstGeom prst="rect">
            <a:avLst/>
          </a:prstGeom>
        </p:spPr>
      </p:pic>
      <p:sp>
        <p:nvSpPr>
          <p:cNvPr id="8" name="TextBox 7">
            <a:extLst>
              <a:ext uri="{FF2B5EF4-FFF2-40B4-BE49-F238E27FC236}">
                <a16:creationId xmlns:a16="http://schemas.microsoft.com/office/drawing/2014/main" id="{7FE7CAB8-D430-B354-135D-59D400492F6D}"/>
              </a:ext>
            </a:extLst>
          </p:cNvPr>
          <p:cNvSpPr txBox="1"/>
          <p:nvPr/>
        </p:nvSpPr>
        <p:spPr>
          <a:xfrm>
            <a:off x="97459" y="3318570"/>
            <a:ext cx="4922410" cy="3539430"/>
          </a:xfrm>
          <a:prstGeom prst="rect">
            <a:avLst/>
          </a:prstGeom>
          <a:noFill/>
        </p:spPr>
        <p:txBody>
          <a:bodyPr wrap="square" rtlCol="0">
            <a:spAutoFit/>
          </a:bodyPr>
          <a:lstStyle/>
          <a:p>
            <a:pPr marL="285750" lvl="0" indent="-285750">
              <a:buFont typeface="Wingdings" panose="05000000000000000000" pitchFamily="2" charset="2"/>
              <a:buChar char="Ø"/>
            </a:pPr>
            <a:r>
              <a:rPr lang="en-IN" sz="1600" b="1" dirty="0"/>
              <a:t>Detailed Description:</a:t>
            </a:r>
            <a:r>
              <a:rPr lang="en-IN" sz="1600" dirty="0"/>
              <a:t> This chart puts the States on the X-axis and stacks the different crops on top of each other to show a 100% breakdown of what each state grows.</a:t>
            </a:r>
            <a:br>
              <a:rPr lang="en-IN" sz="1600" dirty="0"/>
            </a:br>
            <a:endParaRPr lang="en-IN" sz="1600" dirty="0"/>
          </a:p>
          <a:p>
            <a:pPr marL="285750" lvl="0" indent="-285750">
              <a:buFont typeface="Wingdings" panose="05000000000000000000" pitchFamily="2" charset="2"/>
              <a:buChar char="Ø"/>
            </a:pPr>
            <a:r>
              <a:rPr lang="en-IN" sz="1600" b="1" dirty="0"/>
              <a:t>Expanded Insight:</a:t>
            </a:r>
            <a:r>
              <a:rPr lang="en-IN" sz="1600" dirty="0"/>
              <a:t> It proves that agriculture is hyper-localized. Punjab's crop breakdown looks entirely different from Andhra Pradesh's. Therefore, while understanding "seasons" is important, government policies and supply chain plans must ultimately be tailored to the specific geographical region and its preferred crops.</a:t>
            </a:r>
          </a:p>
          <a:p>
            <a:pPr marL="285750" indent="-285750">
              <a:buFont typeface="Wingdings" panose="05000000000000000000" pitchFamily="2" charset="2"/>
              <a:buChar char="Ø"/>
            </a:pPr>
            <a:endParaRPr lang="en-IN" sz="1600" dirty="0"/>
          </a:p>
        </p:txBody>
      </p:sp>
      <p:sp>
        <p:nvSpPr>
          <p:cNvPr id="10" name="TextBox 9">
            <a:extLst>
              <a:ext uri="{FF2B5EF4-FFF2-40B4-BE49-F238E27FC236}">
                <a16:creationId xmlns:a16="http://schemas.microsoft.com/office/drawing/2014/main" id="{C2816091-206F-FC7D-3359-ACC2E30F5251}"/>
              </a:ext>
            </a:extLst>
          </p:cNvPr>
          <p:cNvSpPr txBox="1"/>
          <p:nvPr/>
        </p:nvSpPr>
        <p:spPr>
          <a:xfrm>
            <a:off x="2995127" y="230832"/>
            <a:ext cx="9296519" cy="369332"/>
          </a:xfrm>
          <a:prstGeom prst="rect">
            <a:avLst/>
          </a:prstGeom>
          <a:noFill/>
        </p:spPr>
        <p:txBody>
          <a:bodyPr wrap="none" rtlCol="0">
            <a:spAutoFit/>
          </a:bodyPr>
          <a:lstStyle/>
          <a:p>
            <a:pPr marL="285750" indent="-285750">
              <a:buFont typeface="Wingdings" panose="05000000000000000000" pitchFamily="2" charset="2"/>
              <a:buChar char="Ø"/>
            </a:pPr>
            <a:r>
              <a:rPr lang="en-IN" b="1" u="sng" dirty="0"/>
              <a:t>GRAPH 14: COMPOSITION OF CROPS GROWN IN EACH STATE (STACKED BAR CHART)</a:t>
            </a:r>
          </a:p>
        </p:txBody>
      </p:sp>
    </p:spTree>
    <p:extLst>
      <p:ext uri="{BB962C8B-B14F-4D97-AF65-F5344CB8AC3E}">
        <p14:creationId xmlns:p14="http://schemas.microsoft.com/office/powerpoint/2010/main" val="2224217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88128" y="0"/>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789EE658-8536-7DDA-61B3-EA52B90056C8}"/>
              </a:ext>
            </a:extLst>
          </p:cNvPr>
          <p:cNvSpPr txBox="1"/>
          <p:nvPr/>
        </p:nvSpPr>
        <p:spPr>
          <a:xfrm>
            <a:off x="320982" y="822239"/>
            <a:ext cx="11550036" cy="6001643"/>
          </a:xfrm>
          <a:prstGeom prst="rect">
            <a:avLst/>
          </a:prstGeom>
          <a:noFill/>
        </p:spPr>
        <p:txBody>
          <a:bodyPr wrap="square" rtlCol="0">
            <a:spAutoFit/>
          </a:bodyPr>
          <a:lstStyle/>
          <a:p>
            <a:pPr marL="285750" lvl="0" indent="-285750">
              <a:buFont typeface="Wingdings" panose="05000000000000000000" pitchFamily="2" charset="2"/>
              <a:buChar char="v"/>
            </a:pPr>
            <a:r>
              <a:rPr lang="en-IN" sz="1600" b="1" u="sng" dirty="0"/>
              <a:t>PREDICTIVE MACHINE LEARNING MODELS:</a:t>
            </a:r>
            <a:br>
              <a:rPr lang="en-IN" sz="1600" b="1" dirty="0"/>
            </a:br>
            <a:endParaRPr lang="en-IN" sz="1600" dirty="0"/>
          </a:p>
          <a:p>
            <a:pPr marL="742950" lvl="1" indent="-285750">
              <a:buFont typeface="Wingdings" panose="05000000000000000000" pitchFamily="2" charset="2"/>
              <a:buChar char="Ø"/>
            </a:pPr>
            <a:r>
              <a:rPr lang="en-IN" sz="1600" b="1" dirty="0"/>
              <a:t>Description:</a:t>
            </a:r>
            <a:r>
              <a:rPr lang="en-IN" sz="1600" dirty="0"/>
              <a:t> Transitioning from </a:t>
            </a:r>
            <a:r>
              <a:rPr lang="en-IN" sz="1600" i="1" dirty="0"/>
              <a:t>descriptive</a:t>
            </a:r>
            <a:r>
              <a:rPr lang="en-IN" sz="1600" dirty="0"/>
              <a:t> analytics (what happened) to </a:t>
            </a:r>
            <a:r>
              <a:rPr lang="en-IN" sz="1600" i="1" dirty="0"/>
              <a:t>predictive</a:t>
            </a:r>
            <a:r>
              <a:rPr lang="en-IN" sz="1600" dirty="0"/>
              <a:t> analytics (what will happen). Future iterations of this project can implement algorithms like Random Forest or </a:t>
            </a:r>
            <a:r>
              <a:rPr lang="en-IN" sz="1600" dirty="0" err="1"/>
              <a:t>XGBoost</a:t>
            </a:r>
            <a:r>
              <a:rPr lang="en-IN" sz="1600" dirty="0"/>
              <a:t> to predict exact crop yields and profit margins based on live weather forecasts and soil inputs.</a:t>
            </a:r>
            <a:br>
              <a:rPr lang="en-IN" sz="1600" dirty="0"/>
            </a:br>
            <a:endParaRPr lang="en-IN" sz="1600" dirty="0"/>
          </a:p>
          <a:p>
            <a:pPr marL="285750" lvl="0" indent="-285750">
              <a:buFont typeface="Wingdings" panose="05000000000000000000" pitchFamily="2" charset="2"/>
              <a:buChar char="v"/>
            </a:pPr>
            <a:r>
              <a:rPr lang="en-IN" sz="1600" b="1" u="sng" dirty="0"/>
              <a:t>INTERACTIVE DECISION-SUPPORT DASHBOARDS:</a:t>
            </a:r>
            <a:br>
              <a:rPr lang="en-IN" sz="1600" b="1" dirty="0"/>
            </a:br>
            <a:endParaRPr lang="en-IN" sz="1600" dirty="0"/>
          </a:p>
          <a:p>
            <a:pPr marL="742950" lvl="1" indent="-285750">
              <a:buFont typeface="Wingdings" panose="05000000000000000000" pitchFamily="2" charset="2"/>
              <a:buChar char="Ø"/>
            </a:pPr>
            <a:r>
              <a:rPr lang="en-IN" sz="1600" b="1" dirty="0"/>
              <a:t>Description:</a:t>
            </a:r>
            <a:r>
              <a:rPr lang="en-IN" sz="1600" dirty="0"/>
              <a:t> Building a user-friendly interface using tools like Power BI, Tableau, or </a:t>
            </a:r>
            <a:r>
              <a:rPr lang="en-IN" sz="1600" dirty="0" err="1"/>
              <a:t>Streamlit</a:t>
            </a:r>
            <a:r>
              <a:rPr lang="en-IN" sz="1600" dirty="0"/>
              <a:t>. This would allow farmers to input their specific state, district, and current soil moisture levels to receive automated, data-driven recommendations on the best crops to plant and the optimal irrigation method to use for the upcoming season.</a:t>
            </a:r>
            <a:br>
              <a:rPr lang="en-IN" sz="1600" dirty="0"/>
            </a:br>
            <a:endParaRPr lang="en-IN" sz="1600" dirty="0"/>
          </a:p>
          <a:p>
            <a:pPr marL="285750" lvl="0" indent="-285750">
              <a:buFont typeface="Wingdings" panose="05000000000000000000" pitchFamily="2" charset="2"/>
              <a:buChar char="v"/>
            </a:pPr>
            <a:r>
              <a:rPr lang="en-IN" sz="1600" b="1" u="sng" dirty="0"/>
              <a:t>IOT &amp; SENSOR DATA INTEGRATION:</a:t>
            </a:r>
            <a:br>
              <a:rPr lang="en-IN" sz="1600" b="1" dirty="0"/>
            </a:br>
            <a:endParaRPr lang="en-IN" sz="1600" dirty="0"/>
          </a:p>
          <a:p>
            <a:pPr marL="742950" lvl="1" indent="-285750">
              <a:buFont typeface="Wingdings" panose="05000000000000000000" pitchFamily="2" charset="2"/>
              <a:buChar char="Ø"/>
            </a:pPr>
            <a:r>
              <a:rPr lang="en-IN" sz="1600" b="1" dirty="0"/>
              <a:t>Description:</a:t>
            </a:r>
            <a:r>
              <a:rPr lang="en-IN" sz="1600" dirty="0"/>
              <a:t> Since the analysis revealed massive water waste via Flood irrigation (especially in the Zaid season), the next step is integrating real-time IoT (Internet of Things) soil moisture sensors. This data could automatically trigger Drip or Sprinkler systems only when the soil requires it, maximizing water conservation.</a:t>
            </a:r>
            <a:br>
              <a:rPr lang="en-IN" sz="1600" dirty="0"/>
            </a:br>
            <a:endParaRPr lang="en-IN" sz="1600" b="1" u="sng" dirty="0"/>
          </a:p>
          <a:p>
            <a:pPr marL="285750" lvl="0" indent="-285750">
              <a:buFont typeface="Wingdings" panose="05000000000000000000" pitchFamily="2" charset="2"/>
              <a:buChar char="v"/>
            </a:pPr>
            <a:r>
              <a:rPr lang="en-IN" sz="1600" b="1" u="sng" dirty="0"/>
              <a:t>CLIMATE CHANGE &amp; LONG-TERM TREND ANALYSIS:</a:t>
            </a:r>
            <a:br>
              <a:rPr lang="en-IN" sz="1600" b="1" dirty="0"/>
            </a:br>
            <a:endParaRPr lang="en-IN" sz="1600" dirty="0"/>
          </a:p>
          <a:p>
            <a:pPr marL="742950" lvl="1" indent="-285750">
              <a:buFont typeface="Wingdings" panose="05000000000000000000" pitchFamily="2" charset="2"/>
              <a:buChar char="Ø"/>
            </a:pPr>
            <a:r>
              <a:rPr lang="en-IN" sz="1600" b="1" dirty="0"/>
              <a:t>Description:</a:t>
            </a:r>
            <a:r>
              <a:rPr lang="en-IN" sz="1600" dirty="0"/>
              <a:t> Expanding the dataset to include historical weather patterns over the last 10–20 years. This would allow researchers to </a:t>
            </a:r>
            <a:r>
              <a:rPr lang="en-IN" sz="1600" dirty="0" err="1"/>
              <a:t>analyze</a:t>
            </a:r>
            <a:r>
              <a:rPr lang="en-IN" sz="1600" dirty="0"/>
              <a:t> how shifting climate conditions (e.g., delayed monsoons or hotter summers) are permanently altering the traditional Kharif and Rabi cycles, helping policymakers prepare for long-term agricultural adaptations.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566532"/>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227676" y="1397529"/>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227676" y="2465622"/>
            <a:ext cx="10458148" cy="369332"/>
          </a:xfrm>
          <a:prstGeom prst="rect">
            <a:avLst/>
          </a:prstGeom>
          <a:noFill/>
        </p:spPr>
        <p:txBody>
          <a:bodyPr wrap="square">
            <a:spAutoFit/>
          </a:bodyPr>
          <a:lstStyle/>
          <a:p>
            <a:r>
              <a:rPr lang="en-US" u="sng" dirty="0"/>
              <a:t>Link</a:t>
            </a:r>
            <a:r>
              <a:rPr lang="en-US" dirty="0"/>
              <a:t> - </a:t>
            </a:r>
            <a:r>
              <a:rPr lang="en-US" dirty="0">
                <a:solidFill>
                  <a:schemeClr val="accent2">
                    <a:lumMod val="75000"/>
                  </a:schemeClr>
                </a:solidFill>
                <a:hlinkClick r:id="rId3">
                  <a:extLst>
                    <a:ext uri="{A12FA001-AC4F-418D-AE19-62706E023703}">
                      <ahyp:hlinkClr xmlns:ahyp="http://schemas.microsoft.com/office/drawing/2018/hyperlinkcolor" val="tx"/>
                    </a:ext>
                  </a:extLst>
                </a:hlinkClick>
              </a:rPr>
              <a:t>https://github.com/singhveerpratap9610-oss/Seasonal-Agriculture-Performance-Analysis</a:t>
            </a:r>
            <a:endParaRPr lang="en-US" dirty="0">
              <a:solidFill>
                <a:schemeClr val="accent2">
                  <a:lumMod val="75000"/>
                </a:schemeClr>
              </a:solidFill>
            </a:endParaRP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170000" y="0"/>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4EB34070-16BF-A866-39DC-1CDC99137BB2}"/>
              </a:ext>
            </a:extLst>
          </p:cNvPr>
          <p:cNvPicPr>
            <a:picLocks noChangeAspect="1"/>
          </p:cNvPicPr>
          <p:nvPr/>
        </p:nvPicPr>
        <p:blipFill>
          <a:blip r:embed="rId3"/>
          <a:stretch>
            <a:fillRect/>
          </a:stretch>
        </p:blipFill>
        <p:spPr>
          <a:xfrm>
            <a:off x="1249533" y="1035698"/>
            <a:ext cx="8603594" cy="5629261"/>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2" name="TextBox 1">
            <a:extLst>
              <a:ext uri="{FF2B5EF4-FFF2-40B4-BE49-F238E27FC236}">
                <a16:creationId xmlns:a16="http://schemas.microsoft.com/office/drawing/2014/main" id="{4C3A49B2-4361-6868-41B0-72E71F94B095}"/>
              </a:ext>
            </a:extLst>
          </p:cNvPr>
          <p:cNvSpPr txBox="1"/>
          <p:nvPr/>
        </p:nvSpPr>
        <p:spPr>
          <a:xfrm>
            <a:off x="1884783" y="2031409"/>
            <a:ext cx="3011402" cy="369332"/>
          </a:xfrm>
          <a:prstGeom prst="rect">
            <a:avLst/>
          </a:prstGeom>
          <a:noFill/>
        </p:spPr>
        <p:txBody>
          <a:bodyPr wrap="none" rtlCol="0">
            <a:spAutoFit/>
          </a:bodyPr>
          <a:lstStyle/>
          <a:p>
            <a:r>
              <a:rPr lang="en-IN" dirty="0"/>
              <a:t>NAME - VEER PRATAP SINGH</a:t>
            </a:r>
          </a:p>
        </p:txBody>
      </p:sp>
      <p:sp>
        <p:nvSpPr>
          <p:cNvPr id="4" name="TextBox 3">
            <a:extLst>
              <a:ext uri="{FF2B5EF4-FFF2-40B4-BE49-F238E27FC236}">
                <a16:creationId xmlns:a16="http://schemas.microsoft.com/office/drawing/2014/main" id="{68A83750-1FE3-D86B-F158-6136BE70340D}"/>
              </a:ext>
            </a:extLst>
          </p:cNvPr>
          <p:cNvSpPr txBox="1"/>
          <p:nvPr/>
        </p:nvSpPr>
        <p:spPr>
          <a:xfrm>
            <a:off x="1884783" y="2526095"/>
            <a:ext cx="6306598" cy="369332"/>
          </a:xfrm>
          <a:prstGeom prst="rect">
            <a:avLst/>
          </a:prstGeom>
          <a:noFill/>
        </p:spPr>
        <p:txBody>
          <a:bodyPr wrap="none" rtlCol="0">
            <a:spAutoFit/>
          </a:bodyPr>
          <a:lstStyle/>
          <a:p>
            <a:r>
              <a:rPr lang="en-IN" dirty="0"/>
              <a:t>COURSE - B.TECH IN COMPUTER SCIENCE AND ENGINEERING</a:t>
            </a:r>
          </a:p>
        </p:txBody>
      </p:sp>
      <p:sp>
        <p:nvSpPr>
          <p:cNvPr id="5" name="TextBox 4">
            <a:extLst>
              <a:ext uri="{FF2B5EF4-FFF2-40B4-BE49-F238E27FC236}">
                <a16:creationId xmlns:a16="http://schemas.microsoft.com/office/drawing/2014/main" id="{20BB7098-2CD8-F666-B273-24DAEEA5AC9B}"/>
              </a:ext>
            </a:extLst>
          </p:cNvPr>
          <p:cNvSpPr txBox="1"/>
          <p:nvPr/>
        </p:nvSpPr>
        <p:spPr>
          <a:xfrm>
            <a:off x="1884783" y="3076865"/>
            <a:ext cx="9537098" cy="369332"/>
          </a:xfrm>
          <a:prstGeom prst="rect">
            <a:avLst/>
          </a:prstGeom>
          <a:noFill/>
        </p:spPr>
        <p:txBody>
          <a:bodyPr wrap="none" rtlCol="0">
            <a:spAutoFit/>
          </a:bodyPr>
          <a:lstStyle/>
          <a:p>
            <a:r>
              <a:rPr lang="en-IN" dirty="0"/>
              <a:t>COLLEGE - SRM INSTITUTE OF SCIENCE AND TECHNOLOGY, KATTANKULATHUR,(T.N.), 603203</a:t>
            </a:r>
          </a:p>
        </p:txBody>
      </p:sp>
      <p:sp>
        <p:nvSpPr>
          <p:cNvPr id="6" name="TextBox 5">
            <a:extLst>
              <a:ext uri="{FF2B5EF4-FFF2-40B4-BE49-F238E27FC236}">
                <a16:creationId xmlns:a16="http://schemas.microsoft.com/office/drawing/2014/main" id="{CAF4A99E-2C58-9C0E-AE75-08B9C87D8666}"/>
              </a:ext>
            </a:extLst>
          </p:cNvPr>
          <p:cNvSpPr txBox="1"/>
          <p:nvPr/>
        </p:nvSpPr>
        <p:spPr>
          <a:xfrm>
            <a:off x="1889022" y="3605822"/>
            <a:ext cx="5900141" cy="369332"/>
          </a:xfrm>
          <a:prstGeom prst="rect">
            <a:avLst/>
          </a:prstGeom>
          <a:noFill/>
        </p:spPr>
        <p:txBody>
          <a:bodyPr wrap="none" rtlCol="0">
            <a:spAutoFit/>
          </a:bodyPr>
          <a:lstStyle/>
          <a:p>
            <a:r>
              <a:rPr lang="en-IN" dirty="0"/>
              <a:t>GitHub: https://github.com/singhveerpratap9610-oss</a:t>
            </a:r>
          </a:p>
        </p:txBody>
      </p:sp>
      <p:sp>
        <p:nvSpPr>
          <p:cNvPr id="7" name="TextBox 6">
            <a:extLst>
              <a:ext uri="{FF2B5EF4-FFF2-40B4-BE49-F238E27FC236}">
                <a16:creationId xmlns:a16="http://schemas.microsoft.com/office/drawing/2014/main" id="{AA163E54-3317-3402-6A83-C284BF57E592}"/>
              </a:ext>
            </a:extLst>
          </p:cNvPr>
          <p:cNvSpPr txBox="1"/>
          <p:nvPr/>
        </p:nvSpPr>
        <p:spPr>
          <a:xfrm>
            <a:off x="1884783" y="4061757"/>
            <a:ext cx="4386137" cy="369332"/>
          </a:xfrm>
          <a:prstGeom prst="rect">
            <a:avLst/>
          </a:prstGeom>
          <a:noFill/>
        </p:spPr>
        <p:txBody>
          <a:bodyPr wrap="none" rtlCol="0">
            <a:spAutoFit/>
          </a:bodyPr>
          <a:lstStyle/>
          <a:p>
            <a:r>
              <a:rPr lang="en-IN" dirty="0"/>
              <a:t>Email: singhveerpratap9610@gmail.com </a:t>
            </a:r>
          </a:p>
        </p:txBody>
      </p:sp>
      <p:sp>
        <p:nvSpPr>
          <p:cNvPr id="8" name="TextBox 7">
            <a:extLst>
              <a:ext uri="{FF2B5EF4-FFF2-40B4-BE49-F238E27FC236}">
                <a16:creationId xmlns:a16="http://schemas.microsoft.com/office/drawing/2014/main" id="{53B1028D-D5F3-AC23-9702-2C59F756E7FD}"/>
              </a:ext>
            </a:extLst>
          </p:cNvPr>
          <p:cNvSpPr txBox="1"/>
          <p:nvPr/>
        </p:nvSpPr>
        <p:spPr>
          <a:xfrm>
            <a:off x="1884783" y="4563534"/>
            <a:ext cx="7778861" cy="369332"/>
          </a:xfrm>
          <a:prstGeom prst="rect">
            <a:avLst/>
          </a:prstGeom>
          <a:noFill/>
        </p:spPr>
        <p:txBody>
          <a:bodyPr wrap="none" rtlCol="0">
            <a:spAutoFit/>
          </a:bodyPr>
          <a:lstStyle/>
          <a:p>
            <a:r>
              <a:rPr lang="en-IN" dirty="0"/>
              <a:t>LinkedIn: https://www.linkedin.com/in/veer-pratap-singh-5395523b2/</a:t>
            </a: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nodePh="1">
                                  <p:stCondLst>
                                    <p:cond delay="0"/>
                                  </p:stCondLst>
                                  <p:endCondLst>
                                    <p:cond evt="begin" delay="0">
                                      <p:tn val="18"/>
                                    </p:cond>
                                  </p:endCondLst>
                                  <p:childTnLst>
                                    <p:set>
                                      <p:cBhvr>
                                        <p:cTn id="19" dur="1" fill="hold">
                                          <p:stCondLst>
                                            <p:cond delay="0"/>
                                          </p:stCondLst>
                                        </p:cTn>
                                        <p:tgtEl>
                                          <p:spTgt spid="20"/>
                                        </p:tgtEl>
                                        <p:attrNameLst>
                                          <p:attrName>style.visibility</p:attrName>
                                        </p:attrNameLst>
                                      </p:cBhvr>
                                      <p:to>
                                        <p:strVal val="visible"/>
                                      </p:to>
                                    </p:set>
                                    <p:anim calcmode="lin" valueType="num">
                                      <p:cBhvr additive="base">
                                        <p:cTn id="20" dur="500"/>
                                        <p:tgtEl>
                                          <p:spTgt spid="20"/>
                                        </p:tgtEl>
                                        <p:attrNameLst>
                                          <p:attrName>ppt_y</p:attrName>
                                        </p:attrNameLst>
                                      </p:cBhvr>
                                      <p:tavLst>
                                        <p:tav tm="0">
                                          <p:val>
                                            <p:strVal val="#ppt_y+#ppt_h*1.125000"/>
                                          </p:val>
                                        </p:tav>
                                        <p:tav tm="100000">
                                          <p:val>
                                            <p:strVal val="#ppt_y"/>
                                          </p:val>
                                        </p:tav>
                                      </p:tavLst>
                                    </p:anim>
                                    <p:animEffect transition="in" filter="wipe(up)">
                                      <p:cBhvr>
                                        <p:cTn id="21" dur="500"/>
                                        <p:tgtEl>
                                          <p:spTgt spid="20"/>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p:tgtEl>
                                          <p:spTgt spid="30"/>
                                        </p:tgtEl>
                                        <p:attrNameLst>
                                          <p:attrName>ppt_y</p:attrName>
                                        </p:attrNameLst>
                                      </p:cBhvr>
                                      <p:tavLst>
                                        <p:tav tm="0">
                                          <p:val>
                                            <p:strVal val="#ppt_y+#ppt_h*1.125000"/>
                                          </p:val>
                                        </p:tav>
                                        <p:tav tm="100000">
                                          <p:val>
                                            <p:strVal val="#ppt_y"/>
                                          </p:val>
                                        </p:tav>
                                      </p:tavLst>
                                    </p:anim>
                                    <p:animEffect transition="in" filter="wipe(up)">
                                      <p:cBhvr>
                                        <p:cTn id="27" dur="500"/>
                                        <p:tgtEl>
                                          <p:spTgt spid="3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23"/>
                                        </p:tgtEl>
                                        <p:attrNameLst>
                                          <p:attrName>style.visibility</p:attrName>
                                        </p:attrNameLst>
                                      </p:cBhvr>
                                      <p:to>
                                        <p:strVal val="visible"/>
                                      </p:to>
                                    </p:set>
                                    <p:anim calcmode="lin" valueType="num">
                                      <p:cBhvr additive="base">
                                        <p:cTn id="32" dur="500"/>
                                        <p:tgtEl>
                                          <p:spTgt spid="23"/>
                                        </p:tgtEl>
                                        <p:attrNameLst>
                                          <p:attrName>ppt_y</p:attrName>
                                        </p:attrNameLst>
                                      </p:cBhvr>
                                      <p:tavLst>
                                        <p:tav tm="0">
                                          <p:val>
                                            <p:strVal val="#ppt_y+#ppt_h*1.125000"/>
                                          </p:val>
                                        </p:tav>
                                        <p:tav tm="100000">
                                          <p:val>
                                            <p:strVal val="#ppt_y"/>
                                          </p:val>
                                        </p:tav>
                                      </p:tavLst>
                                    </p:anim>
                                    <p:animEffect transition="in" filter="wipe(up)">
                                      <p:cBhvr>
                                        <p:cTn id="33" dur="500"/>
                                        <p:tgtEl>
                                          <p:spTgt spid="23"/>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p:stCondLst>
                                    <p:cond delay="0"/>
                                  </p:stCondLst>
                                  <p:childTnLst>
                                    <p:set>
                                      <p:cBhvr>
                                        <p:cTn id="37" dur="1" fill="hold">
                                          <p:stCondLst>
                                            <p:cond delay="0"/>
                                          </p:stCondLst>
                                        </p:cTn>
                                        <p:tgtEl>
                                          <p:spTgt spid="32"/>
                                        </p:tgtEl>
                                        <p:attrNameLst>
                                          <p:attrName>style.visibility</p:attrName>
                                        </p:attrNameLst>
                                      </p:cBhvr>
                                      <p:to>
                                        <p:strVal val="visible"/>
                                      </p:to>
                                    </p:set>
                                    <p:anim calcmode="lin" valueType="num">
                                      <p:cBhvr additive="base">
                                        <p:cTn id="38" dur="500"/>
                                        <p:tgtEl>
                                          <p:spTgt spid="32"/>
                                        </p:tgtEl>
                                        <p:attrNameLst>
                                          <p:attrName>ppt_y</p:attrName>
                                        </p:attrNameLst>
                                      </p:cBhvr>
                                      <p:tavLst>
                                        <p:tav tm="0">
                                          <p:val>
                                            <p:strVal val="#ppt_y+#ppt_h*1.125000"/>
                                          </p:val>
                                        </p:tav>
                                        <p:tav tm="100000">
                                          <p:val>
                                            <p:strVal val="#ppt_y"/>
                                          </p:val>
                                        </p:tav>
                                      </p:tavLst>
                                    </p:anim>
                                    <p:animEffect transition="in" filter="wipe(up)">
                                      <p:cBhvr>
                                        <p:cTn id="39"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1658</TotalTime>
  <Words>2436</Words>
  <Application>Microsoft Office PowerPoint</Application>
  <PresentationFormat>Widescreen</PresentationFormat>
  <Paragraphs>121</Paragraphs>
  <Slides>24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Calibri</vt:lpstr>
      <vt:lpstr>Cambria</vt:lpstr>
      <vt:lpstr>Trebuchet MS</vt:lpstr>
      <vt:lpstr>Wingdings</vt:lpstr>
      <vt:lpstr>Wingdings 3</vt:lpstr>
      <vt:lpstr>Facet</vt:lpstr>
      <vt:lpstr>Project Title - Seasonal Agriculture Performance Analysis</vt:lpstr>
      <vt:lpstr>PROBLEM  STATEMENT</vt:lpstr>
      <vt:lpstr>Project Description  </vt:lpstr>
      <vt:lpstr>Project Description  </vt:lpstr>
      <vt:lpstr>WHO ARE THE END USERS?</vt:lpstr>
      <vt:lpstr>Technology Used</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Veer Pratap singh</cp:lastModifiedBy>
  <cp:revision>99</cp:revision>
  <dcterms:created xsi:type="dcterms:W3CDTF">2021-07-11T13:13:15Z</dcterms:created>
  <dcterms:modified xsi:type="dcterms:W3CDTF">2026-09-09T21:12:08Z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